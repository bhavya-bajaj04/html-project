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wav" ContentType="audio/x-wav"/>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7"/>
  </p:notesMasterIdLst>
  <p:handoutMasterIdLst>
    <p:handoutMasterId r:id="rId8"/>
  </p:handoutMasterIdLst>
  <p:sldIdLst>
    <p:sldId id="257" r:id="rId2"/>
    <p:sldId id="259" r:id="rId3"/>
    <p:sldId id="260" r:id="rId4"/>
    <p:sldId id="272" r:id="rId5"/>
    <p:sldId id="273" r:id="rId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000" autoAdjust="0"/>
    <p:restoredTop sz="94206" autoAdjust="0"/>
  </p:normalViewPr>
  <p:slideViewPr>
    <p:cSldViewPr snapToGrid="0">
      <p:cViewPr varScale="1">
        <p:scale>
          <a:sx n="67" d="100"/>
          <a:sy n="67" d="100"/>
        </p:scale>
        <p:origin x="300" y="72"/>
      </p:cViewPr>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0"/>
    </p:cViewPr>
  </p:sorterViewPr>
  <p:notesViewPr>
    <p:cSldViewPr snapToGrid="0">
      <p:cViewPr varScale="1">
        <p:scale>
          <a:sx n="54" d="100"/>
          <a:sy n="54" d="100"/>
        </p:scale>
        <p:origin x="2898" y="96"/>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handoutMaster" Target="handoutMasters/handoutMaster1.xml"/><Relationship Id="rId3" Type="http://schemas.openxmlformats.org/officeDocument/2006/relationships/slide" Target="slides/slide2.xml"/><Relationship Id="rId7" Type="http://schemas.openxmlformats.org/officeDocument/2006/relationships/notesMaster" Target="notesMasters/notesMaster1.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2821F25-4F79-4D7B-0391-D8C884489E44}"/>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a:extLst>
              <a:ext uri="{FF2B5EF4-FFF2-40B4-BE49-F238E27FC236}">
                <a16:creationId xmlns:a16="http://schemas.microsoft.com/office/drawing/2014/main" id="{6E049D2F-A505-2848-8324-9A629E1D669C}"/>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C0391D1F-867A-4DB4-9512-A0FF707995DC}" type="datetimeFigureOut">
              <a:rPr lang="en-IN" smtClean="0"/>
              <a:t>10-05-2022</a:t>
            </a:fld>
            <a:endParaRPr lang="en-IN"/>
          </a:p>
        </p:txBody>
      </p:sp>
      <p:sp>
        <p:nvSpPr>
          <p:cNvPr id="4" name="Footer Placeholder 3">
            <a:extLst>
              <a:ext uri="{FF2B5EF4-FFF2-40B4-BE49-F238E27FC236}">
                <a16:creationId xmlns:a16="http://schemas.microsoft.com/office/drawing/2014/main" id="{AA59126C-E3DD-1882-251B-D5C6279D5BB2}"/>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5" name="Slide Number Placeholder 4">
            <a:extLst>
              <a:ext uri="{FF2B5EF4-FFF2-40B4-BE49-F238E27FC236}">
                <a16:creationId xmlns:a16="http://schemas.microsoft.com/office/drawing/2014/main" id="{320121A8-2838-74B3-6828-163BCACBE4DB}"/>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231621BD-57E2-4BD9-8E43-C1A0BFFDE7CB}" type="slidenum">
              <a:rPr lang="en-IN" smtClean="0"/>
              <a:t>‹#›</a:t>
            </a:fld>
            <a:endParaRPr lang="en-IN"/>
          </a:p>
        </p:txBody>
      </p:sp>
    </p:spTree>
    <p:extLst>
      <p:ext uri="{BB962C8B-B14F-4D97-AF65-F5344CB8AC3E}">
        <p14:creationId xmlns:p14="http://schemas.microsoft.com/office/powerpoint/2010/main" val="79408730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E7345CE-B2E4-4808-A566-4483159E1FD5}" type="datetimeFigureOut">
              <a:rPr lang="en-IN" smtClean="0"/>
              <a:t>10-05-2022</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4BFEBBC-F9E5-49CD-9162-A45140F4413A}" type="slidenum">
              <a:rPr lang="en-IN" smtClean="0"/>
              <a:t>‹#›</a:t>
            </a:fld>
            <a:endParaRPr lang="en-IN"/>
          </a:p>
        </p:txBody>
      </p:sp>
    </p:spTree>
    <p:extLst>
      <p:ext uri="{BB962C8B-B14F-4D97-AF65-F5344CB8AC3E}">
        <p14:creationId xmlns:p14="http://schemas.microsoft.com/office/powerpoint/2010/main" val="251001175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94BFEBBC-F9E5-49CD-9162-A45140F4413A}" type="slidenum">
              <a:rPr lang="en-IN" smtClean="0"/>
              <a:t>1</a:t>
            </a:fld>
            <a:endParaRPr lang="en-IN"/>
          </a:p>
        </p:txBody>
      </p:sp>
    </p:spTree>
    <p:extLst>
      <p:ext uri="{BB962C8B-B14F-4D97-AF65-F5344CB8AC3E}">
        <p14:creationId xmlns:p14="http://schemas.microsoft.com/office/powerpoint/2010/main" val="115423877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94BFEBBC-F9E5-49CD-9162-A45140F4413A}" type="slidenum">
              <a:rPr lang="en-IN" smtClean="0"/>
              <a:t>2</a:t>
            </a:fld>
            <a:endParaRPr lang="en-IN"/>
          </a:p>
        </p:txBody>
      </p:sp>
    </p:spTree>
    <p:extLst>
      <p:ext uri="{BB962C8B-B14F-4D97-AF65-F5344CB8AC3E}">
        <p14:creationId xmlns:p14="http://schemas.microsoft.com/office/powerpoint/2010/main" val="348003592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94BFEBBC-F9E5-49CD-9162-A45140F4413A}" type="slidenum">
              <a:rPr lang="en-IN" smtClean="0"/>
              <a:t>3</a:t>
            </a:fld>
            <a:endParaRPr lang="en-IN"/>
          </a:p>
        </p:txBody>
      </p:sp>
    </p:spTree>
    <p:extLst>
      <p:ext uri="{BB962C8B-B14F-4D97-AF65-F5344CB8AC3E}">
        <p14:creationId xmlns:p14="http://schemas.microsoft.com/office/powerpoint/2010/main" val="34290365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94BFEBBC-F9E5-49CD-9162-A45140F4413A}" type="slidenum">
              <a:rPr lang="en-IN" smtClean="0"/>
              <a:t>4</a:t>
            </a:fld>
            <a:endParaRPr lang="en-IN"/>
          </a:p>
        </p:txBody>
      </p:sp>
    </p:spTree>
    <p:extLst>
      <p:ext uri="{BB962C8B-B14F-4D97-AF65-F5344CB8AC3E}">
        <p14:creationId xmlns:p14="http://schemas.microsoft.com/office/powerpoint/2010/main" val="362428898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417779" y="802298"/>
            <a:ext cx="8637073" cy="2541431"/>
          </a:xfrm>
        </p:spPr>
        <p:txBody>
          <a:bodyPr bIns="0" anchor="b">
            <a:normAutofit/>
          </a:bodyPr>
          <a:lstStyle>
            <a:lvl1pPr algn="l">
              <a:defRPr sz="6600"/>
            </a:lvl1pPr>
          </a:lstStyle>
          <a:p>
            <a:r>
              <a:rPr lang="en-US"/>
              <a:t>Click to edit Master title style</a:t>
            </a:r>
            <a:endParaRPr lang="en-US" dirty="0"/>
          </a:p>
        </p:txBody>
      </p:sp>
      <p:sp>
        <p:nvSpPr>
          <p:cNvPr id="3" name="Subtitle 2"/>
          <p:cNvSpPr>
            <a:spLocks noGrp="1"/>
          </p:cNvSpPr>
          <p:nvPr>
            <p:ph type="subTitle" idx="1"/>
          </p:nvPr>
        </p:nvSpPr>
        <p:spPr>
          <a:xfrm>
            <a:off x="2417780" y="3531204"/>
            <a:ext cx="8637072" cy="977621"/>
          </a:xfrm>
        </p:spPr>
        <p:txBody>
          <a:bodyPr tIns="91440" bIns="91440">
            <a:normAutofit/>
          </a:bodyPr>
          <a:lstStyle>
            <a:lvl1pPr marL="0" indent="0" algn="l">
              <a:buNone/>
              <a:defRPr sz="1800" b="0" cap="all" baseline="0">
                <a:solidFill>
                  <a:schemeClr val="tx1"/>
                </a:solidFill>
              </a:defRPr>
            </a:lvl1pPr>
            <a:lvl2pPr marL="457200" indent="0" algn="ctr">
              <a:buNone/>
              <a:defRPr sz="18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9F06304A-177C-493E-AD3C-87F69573086E}" type="datetimeFigureOut">
              <a:rPr lang="en-IN" smtClean="0"/>
              <a:t>10-05-2022</a:t>
            </a:fld>
            <a:endParaRPr lang="en-IN"/>
          </a:p>
        </p:txBody>
      </p:sp>
      <p:sp>
        <p:nvSpPr>
          <p:cNvPr id="5" name="Footer Placeholder 4"/>
          <p:cNvSpPr>
            <a:spLocks noGrp="1"/>
          </p:cNvSpPr>
          <p:nvPr>
            <p:ph type="ftr" sz="quarter" idx="11"/>
          </p:nvPr>
        </p:nvSpPr>
        <p:spPr>
          <a:xfrm>
            <a:off x="2416500" y="329307"/>
            <a:ext cx="4973915" cy="309201"/>
          </a:xfrm>
        </p:spPr>
        <p:txBody>
          <a:bodyPr/>
          <a:lstStyle/>
          <a:p>
            <a:endParaRPr lang="en-IN"/>
          </a:p>
        </p:txBody>
      </p:sp>
      <p:sp>
        <p:nvSpPr>
          <p:cNvPr id="6" name="Slide Number Placeholder 5"/>
          <p:cNvSpPr>
            <a:spLocks noGrp="1"/>
          </p:cNvSpPr>
          <p:nvPr>
            <p:ph type="sldNum" sz="quarter" idx="12"/>
          </p:nvPr>
        </p:nvSpPr>
        <p:spPr>
          <a:xfrm>
            <a:off x="1437664" y="798973"/>
            <a:ext cx="811019" cy="503578"/>
          </a:xfrm>
        </p:spPr>
        <p:txBody>
          <a:bodyPr/>
          <a:lstStyle/>
          <a:p>
            <a:fld id="{AA7F0340-A9B5-48D4-B7DD-319BF68AD575}" type="slidenum">
              <a:rPr lang="en-IN" smtClean="0"/>
              <a:t>‹#›</a:t>
            </a:fld>
            <a:endParaRPr lang="en-IN"/>
          </a:p>
        </p:txBody>
      </p:sp>
      <p:cxnSp>
        <p:nvCxnSpPr>
          <p:cNvPr id="15" name="Straight Connector 14"/>
          <p:cNvCxnSpPr/>
          <p:nvPr/>
        </p:nvCxnSpPr>
        <p:spPr>
          <a:xfrm>
            <a:off x="2417780" y="3528542"/>
            <a:ext cx="863707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9201442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F06304A-177C-493E-AD3C-87F69573086E}" type="datetimeFigureOut">
              <a:rPr lang="en-IN" smtClean="0"/>
              <a:t>10-05-2022</a:t>
            </a:fld>
            <a:endParaRPr lang="en-IN"/>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fld id="{AA7F0340-A9B5-48D4-B7DD-319BF68AD575}" type="slidenum">
              <a:rPr lang="en-IN" smtClean="0"/>
              <a:t>‹#›</a:t>
            </a:fld>
            <a:endParaRPr lang="en-IN"/>
          </a:p>
        </p:txBody>
      </p:sp>
      <p:cxnSp>
        <p:nvCxnSpPr>
          <p:cNvPr id="33" name="Straight Connector 32"/>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56302767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454239" y="1756130"/>
            <a:ext cx="8643154" cy="1887950"/>
          </a:xfrm>
        </p:spPr>
        <p:txBody>
          <a:bodyPr anchor="b">
            <a:normAutofit/>
          </a:bodyPr>
          <a:lstStyle>
            <a:lvl1pPr algn="l">
              <a:defRPr sz="3600"/>
            </a:lvl1pPr>
          </a:lstStyle>
          <a:p>
            <a:r>
              <a:rPr lang="en-US"/>
              <a:t>Click to edit Master title style</a:t>
            </a:r>
            <a:endParaRPr lang="en-US" dirty="0"/>
          </a:p>
        </p:txBody>
      </p:sp>
      <p:sp>
        <p:nvSpPr>
          <p:cNvPr id="3" name="Text Placeholder 2"/>
          <p:cNvSpPr>
            <a:spLocks noGrp="1"/>
          </p:cNvSpPr>
          <p:nvPr>
            <p:ph type="body" idx="1"/>
          </p:nvPr>
        </p:nvSpPr>
        <p:spPr>
          <a:xfrm>
            <a:off x="1454239" y="3806195"/>
            <a:ext cx="8630446" cy="1012929"/>
          </a:xfrm>
        </p:spPr>
        <p:txBody>
          <a:bodyPr tIns="91440">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F06304A-177C-493E-AD3C-87F69573086E}" type="datetimeFigureOut">
              <a:rPr lang="en-IN" smtClean="0"/>
              <a:t>10-05-2022</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A7F0340-A9B5-48D4-B7DD-319BF68AD575}" type="slidenum">
              <a:rPr lang="en-IN" smtClean="0"/>
              <a:t>‹#›</a:t>
            </a:fld>
            <a:endParaRPr lang="en-IN"/>
          </a:p>
        </p:txBody>
      </p:sp>
      <p:cxnSp>
        <p:nvCxnSpPr>
          <p:cNvPr id="15" name="Straight Connector 14"/>
          <p:cNvCxnSpPr/>
          <p:nvPr/>
        </p:nvCxnSpPr>
        <p:spPr>
          <a:xfrm>
            <a:off x="1454239" y="3804985"/>
            <a:ext cx="8630446"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5456469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49217" y="804889"/>
            <a:ext cx="9605635" cy="1059305"/>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447331" y="2010878"/>
            <a:ext cx="4645152" cy="344859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413771" y="2017343"/>
            <a:ext cx="4645152" cy="344152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9F06304A-177C-493E-AD3C-87F69573086E}" type="datetimeFigureOut">
              <a:rPr lang="en-IN" smtClean="0"/>
              <a:t>10-05-2022</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AA7F0340-A9B5-48D4-B7DD-319BF68AD575}" type="slidenum">
              <a:rPr lang="en-IN" smtClean="0"/>
              <a:t>‹#›</a:t>
            </a:fld>
            <a:endParaRPr lang="en-IN"/>
          </a:p>
        </p:txBody>
      </p:sp>
      <p:cxnSp>
        <p:nvCxnSpPr>
          <p:cNvPr id="35" name="Straight Connector 3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71448262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447191" y="804163"/>
            <a:ext cx="9607661" cy="1056319"/>
          </a:xfrm>
        </p:spPr>
        <p:txBody>
          <a:bodyPr/>
          <a:lstStyle/>
          <a:p>
            <a:r>
              <a:rPr lang="en-US"/>
              <a:t>Click to edit Master title style</a:t>
            </a:r>
            <a:endParaRPr lang="en-US" dirty="0"/>
          </a:p>
        </p:txBody>
      </p:sp>
      <p:sp>
        <p:nvSpPr>
          <p:cNvPr id="3" name="Text Placeholder 2"/>
          <p:cNvSpPr>
            <a:spLocks noGrp="1"/>
          </p:cNvSpPr>
          <p:nvPr>
            <p:ph type="body" idx="1"/>
          </p:nvPr>
        </p:nvSpPr>
        <p:spPr>
          <a:xfrm>
            <a:off x="1447191" y="2019549"/>
            <a:ext cx="4645152" cy="801943"/>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447191" y="2824269"/>
            <a:ext cx="4645152" cy="26444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12362" y="2023003"/>
            <a:ext cx="4645152" cy="802237"/>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412362" y="2821491"/>
            <a:ext cx="4645152" cy="263737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9F06304A-177C-493E-AD3C-87F69573086E}" type="datetimeFigureOut">
              <a:rPr lang="en-IN" smtClean="0"/>
              <a:t>10-05-2022</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AA7F0340-A9B5-48D4-B7DD-319BF68AD575}" type="slidenum">
              <a:rPr lang="en-IN" smtClean="0"/>
              <a:t>‹#›</a:t>
            </a:fld>
            <a:endParaRPr lang="en-IN"/>
          </a:p>
        </p:txBody>
      </p:sp>
      <p:cxnSp>
        <p:nvCxnSpPr>
          <p:cNvPr id="29" name="Straight Connector 28"/>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78017318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9F06304A-177C-493E-AD3C-87F69573086E}" type="datetimeFigureOut">
              <a:rPr lang="en-IN" smtClean="0"/>
              <a:t>10-05-2022</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AA7F0340-A9B5-48D4-B7DD-319BF68AD575}" type="slidenum">
              <a:rPr lang="en-IN" smtClean="0"/>
              <a:t>‹#›</a:t>
            </a:fld>
            <a:endParaRPr lang="en-IN"/>
          </a:p>
        </p:txBody>
      </p:sp>
      <p:cxnSp>
        <p:nvCxnSpPr>
          <p:cNvPr id="25" name="Straight Connector 2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85622005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F06304A-177C-493E-AD3C-87F69573086E}" type="datetimeFigureOut">
              <a:rPr lang="en-IN" smtClean="0"/>
              <a:t>10-05-2022</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AA7F0340-A9B5-48D4-B7DD-319BF68AD575}" type="slidenum">
              <a:rPr lang="en-IN" smtClean="0"/>
              <a:t>‹#›</a:t>
            </a:fld>
            <a:endParaRPr lang="en-IN"/>
          </a:p>
        </p:txBody>
      </p:sp>
    </p:spTree>
    <p:extLst>
      <p:ext uri="{BB962C8B-B14F-4D97-AF65-F5344CB8AC3E}">
        <p14:creationId xmlns:p14="http://schemas.microsoft.com/office/powerpoint/2010/main" val="217097246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4671" y="798973"/>
            <a:ext cx="3273099" cy="2247117"/>
          </a:xfrm>
        </p:spPr>
        <p:txBody>
          <a:bodyPr anchor="b">
            <a:normAutofit/>
          </a:bodyPr>
          <a:lstStyle>
            <a:lvl1pPr algn="l">
              <a:defRPr sz="2400"/>
            </a:lvl1pPr>
          </a:lstStyle>
          <a:p>
            <a:r>
              <a:rPr lang="en-US"/>
              <a:t>Click to edit Master title style</a:t>
            </a:r>
            <a:endParaRPr lang="en-US" dirty="0"/>
          </a:p>
        </p:txBody>
      </p:sp>
      <p:sp>
        <p:nvSpPr>
          <p:cNvPr id="3" name="Content Placeholder 2"/>
          <p:cNvSpPr>
            <a:spLocks noGrp="1"/>
          </p:cNvSpPr>
          <p:nvPr>
            <p:ph idx="1"/>
          </p:nvPr>
        </p:nvSpPr>
        <p:spPr>
          <a:xfrm>
            <a:off x="5043714" y="798974"/>
            <a:ext cx="6012470" cy="4658826"/>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444671" y="3205491"/>
            <a:ext cx="3275013" cy="2248181"/>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9F06304A-177C-493E-AD3C-87F69573086E}" type="datetimeFigureOut">
              <a:rPr lang="en-IN" smtClean="0"/>
              <a:t>10-05-2022</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AA7F0340-A9B5-48D4-B7DD-319BF68AD575}" type="slidenum">
              <a:rPr lang="en-IN" smtClean="0"/>
              <a:t>‹#›</a:t>
            </a:fld>
            <a:endParaRPr lang="en-IN"/>
          </a:p>
        </p:txBody>
      </p:sp>
      <p:cxnSp>
        <p:nvCxnSpPr>
          <p:cNvPr id="17" name="Straight Connector 16"/>
          <p:cNvCxnSpPr/>
          <p:nvPr/>
        </p:nvCxnSpPr>
        <p:spPr>
          <a:xfrm>
            <a:off x="1448280" y="3205491"/>
            <a:ext cx="3269490"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75424198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grpSp>
        <p:nvGrpSpPr>
          <p:cNvPr id="8" name="Group 7"/>
          <p:cNvGrpSpPr/>
          <p:nvPr/>
        </p:nvGrpSpPr>
        <p:grpSpPr>
          <a:xfrm>
            <a:off x="7477387" y="482170"/>
            <a:ext cx="4074533" cy="5149101"/>
            <a:chOff x="7477387" y="482170"/>
            <a:chExt cx="4074533" cy="5149101"/>
          </a:xfrm>
        </p:grpSpPr>
        <p:sp>
          <p:nvSpPr>
            <p:cNvPr id="18" name="Rectangle 17"/>
            <p:cNvSpPr/>
            <p:nvPr/>
          </p:nvSpPr>
          <p:spPr bwMode="black">
            <a:xfrm>
              <a:off x="7477387" y="482170"/>
              <a:ext cx="4074533" cy="5149101"/>
            </a:xfrm>
            <a:prstGeom prst="rect">
              <a:avLst/>
            </a:prstGeom>
            <a:gradFill>
              <a:gsLst>
                <a:gs pos="0">
                  <a:srgbClr val="000001"/>
                </a:gs>
                <a:gs pos="100000">
                  <a:srgbClr val="191919"/>
                </a:gs>
              </a:gsLst>
            </a:gradFill>
            <a:ln w="76200" cmpd="sng">
              <a:noFill/>
              <a:miter lim="800000"/>
            </a:ln>
            <a:effectLst>
              <a:outerShdw blurRad="127000" dist="228600" dir="4740000" sx="98000" sy="98000" algn="tl" rotWithShape="0">
                <a:srgbClr val="000000">
                  <a:alpha val="34000"/>
                </a:srgbClr>
              </a:outerShdw>
            </a:effectLst>
            <a:scene3d>
              <a:camera prst="orthographicFront"/>
              <a:lightRig rig="threePt" dir="t"/>
            </a:scene3d>
            <a:sp3d>
              <a:bevelT w="152400" h="50800" prst="softRound"/>
            </a:sp3d>
          </p:spPr>
          <p:style>
            <a:lnRef idx="1">
              <a:schemeClr val="accent1"/>
            </a:lnRef>
            <a:fillRef idx="3">
              <a:schemeClr val="accent1"/>
            </a:fillRef>
            <a:effectRef idx="2">
              <a:schemeClr val="accent1"/>
            </a:effectRef>
            <a:fontRef idx="minor">
              <a:schemeClr val="lt1"/>
            </a:fontRef>
          </p:style>
        </p:sp>
        <p:sp>
          <p:nvSpPr>
            <p:cNvPr id="19" name="Rectangle 18"/>
            <p:cNvSpPr/>
            <p:nvPr/>
          </p:nvSpPr>
          <p:spPr bwMode="blackWhite">
            <a:xfrm>
              <a:off x="7790446" y="812506"/>
              <a:ext cx="3450289" cy="4466452"/>
            </a:xfrm>
            <a:prstGeom prst="rect">
              <a:avLst/>
            </a:prstGeom>
            <a:gradFill>
              <a:gsLst>
                <a:gs pos="0">
                  <a:srgbClr val="DADADA"/>
                </a:gs>
                <a:gs pos="100000">
                  <a:srgbClr val="FFFFFE"/>
                </a:gs>
              </a:gsLst>
              <a:lin ang="16200000" scaled="0"/>
            </a:gradFill>
            <a:ln w="50800" cmpd="sng">
              <a:solidFill>
                <a:srgbClr val="191919"/>
              </a:solidFill>
              <a:miter lim="800000"/>
            </a:ln>
            <a:effectLst>
              <a:innerShdw blurRad="63500" dist="88900" dir="14100000">
                <a:srgbClr val="000000">
                  <a:alpha val="30000"/>
                </a:srgbClr>
              </a:innerShdw>
            </a:effectLst>
            <a:scene3d>
              <a:camera prst="orthographicFront"/>
              <a:lightRig rig="threePt" dir="t"/>
            </a:scene3d>
            <a:sp3d>
              <a:bevelT prst="relaxedInset"/>
            </a:sp3d>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title"/>
          </p:nvPr>
        </p:nvSpPr>
        <p:spPr>
          <a:xfrm>
            <a:off x="1451206" y="1129513"/>
            <a:ext cx="5532328" cy="1830584"/>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8124389" y="1122542"/>
            <a:ext cx="2791171" cy="3866327"/>
          </a:xfrm>
          <a:solidFill>
            <a:schemeClr val="bg1">
              <a:lumMod val="85000"/>
            </a:schemeClr>
          </a:solidFill>
          <a:ln w="9525" cap="sq">
            <a:noFill/>
            <a:miter lim="800000"/>
          </a:ln>
          <a:effectLst/>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450329" y="3145992"/>
            <a:ext cx="5524404" cy="2003742"/>
          </a:xfrm>
        </p:spPr>
        <p:txBody>
          <a:bodyPr>
            <a:normAutofit/>
          </a:bodyPr>
          <a:lstStyle>
            <a:lvl1pPr marL="0" indent="0" algn="l">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1447382" y="5469856"/>
            <a:ext cx="5527351" cy="320123"/>
          </a:xfrm>
        </p:spPr>
        <p:txBody>
          <a:bodyPr/>
          <a:lstStyle>
            <a:lvl1pPr algn="l">
              <a:defRPr/>
            </a:lvl1pPr>
          </a:lstStyle>
          <a:p>
            <a:fld id="{9F06304A-177C-493E-AD3C-87F69573086E}" type="datetimeFigureOut">
              <a:rPr lang="en-IN" smtClean="0"/>
              <a:t>10-05-2022</a:t>
            </a:fld>
            <a:endParaRPr lang="en-IN"/>
          </a:p>
        </p:txBody>
      </p:sp>
      <p:sp>
        <p:nvSpPr>
          <p:cNvPr id="6" name="Footer Placeholder 5"/>
          <p:cNvSpPr>
            <a:spLocks noGrp="1"/>
          </p:cNvSpPr>
          <p:nvPr>
            <p:ph type="ftr" sz="quarter" idx="11"/>
          </p:nvPr>
        </p:nvSpPr>
        <p:spPr>
          <a:xfrm>
            <a:off x="1447382" y="318640"/>
            <a:ext cx="5541004" cy="320931"/>
          </a:xfrm>
        </p:spPr>
        <p:txBody>
          <a:bodyPr/>
          <a:lstStyle/>
          <a:p>
            <a:endParaRPr lang="en-IN"/>
          </a:p>
        </p:txBody>
      </p:sp>
      <p:sp>
        <p:nvSpPr>
          <p:cNvPr id="7" name="Slide Number Placeholder 6"/>
          <p:cNvSpPr>
            <a:spLocks noGrp="1"/>
          </p:cNvSpPr>
          <p:nvPr>
            <p:ph type="sldNum" sz="quarter" idx="12"/>
          </p:nvPr>
        </p:nvSpPr>
        <p:spPr/>
        <p:txBody>
          <a:bodyPr/>
          <a:lstStyle/>
          <a:p>
            <a:fld id="{AA7F0340-A9B5-48D4-B7DD-319BF68AD575}" type="slidenum">
              <a:rPr lang="en-IN" smtClean="0"/>
              <a:t>‹#›</a:t>
            </a:fld>
            <a:endParaRPr lang="en-IN"/>
          </a:p>
        </p:txBody>
      </p:sp>
      <p:cxnSp>
        <p:nvCxnSpPr>
          <p:cNvPr id="31" name="Straight Connector 30"/>
          <p:cNvCxnSpPr/>
          <p:nvPr/>
        </p:nvCxnSpPr>
        <p:spPr>
          <a:xfrm>
            <a:off x="1447382" y="3143605"/>
            <a:ext cx="5527351"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20093795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F06304A-177C-493E-AD3C-87F69573086E}" type="datetimeFigureOut">
              <a:rPr lang="en-IN" smtClean="0"/>
              <a:t>10-05-2022</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A7F0340-A9B5-48D4-B7DD-319BF68AD575}" type="slidenum">
              <a:rPr lang="en-IN" smtClean="0"/>
              <a:t>‹#›</a:t>
            </a:fld>
            <a:endParaRPr lang="en-IN"/>
          </a:p>
        </p:txBody>
      </p:sp>
      <p:cxnSp>
        <p:nvCxnSpPr>
          <p:cNvPr id="26" name="Straight Connector 25"/>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75023532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439111" y="798973"/>
            <a:ext cx="1615742" cy="4659889"/>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1444672" y="798973"/>
            <a:ext cx="7828830" cy="465988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F06304A-177C-493E-AD3C-87F69573086E}" type="datetimeFigureOut">
              <a:rPr lang="en-IN" smtClean="0"/>
              <a:t>10-05-2022</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A7F0340-A9B5-48D4-B7DD-319BF68AD575}" type="slidenum">
              <a:rPr lang="en-IN" smtClean="0"/>
              <a:t>‹#›</a:t>
            </a:fld>
            <a:endParaRPr lang="en-IN"/>
          </a:p>
        </p:txBody>
      </p:sp>
      <p:cxnSp>
        <p:nvCxnSpPr>
          <p:cNvPr id="15" name="Straight Connector 14"/>
          <p:cNvCxnSpPr/>
          <p:nvPr/>
        </p:nvCxnSpPr>
        <p:spPr>
          <a:xfrm>
            <a:off x="9439111" y="798973"/>
            <a:ext cx="0" cy="4659889"/>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28004086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8" name="Rectangle 7"/>
          <p:cNvSpPr/>
          <p:nvPr/>
        </p:nvSpPr>
        <p:spPr>
          <a:xfrm>
            <a:off x="0" y="2019476"/>
            <a:ext cx="12192000" cy="4105941"/>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sp>
      <p:pic>
        <p:nvPicPr>
          <p:cNvPr id="7" name="Picture 6"/>
          <p:cNvPicPr>
            <a:picLocks noChangeAspect="1"/>
          </p:cNvPicPr>
          <p:nvPr/>
        </p:nvPicPr>
        <p:blipFill rotWithShape="1">
          <a:blip r:embed="rId13">
            <a:extLst>
              <a:ext uri="{28A0092B-C50C-407E-A947-70E740481C1C}">
                <a14:useLocalDpi xmlns:a14="http://schemas.microsoft.com/office/drawing/2010/main" val="0"/>
              </a:ext>
            </a:extLst>
          </a:blip>
          <a:srcRect t="1538" b="-1538"/>
          <a:stretch/>
        </p:blipFill>
        <p:spPr bwMode="black">
          <a:xfrm>
            <a:off x="0" y="6126480"/>
            <a:ext cx="12192000" cy="742950"/>
          </a:xfrm>
          <a:prstGeom prst="rect">
            <a:avLst/>
          </a:prstGeom>
        </p:spPr>
      </p:pic>
      <p:sp>
        <p:nvSpPr>
          <p:cNvPr id="2" name="Title Placeholder 1"/>
          <p:cNvSpPr>
            <a:spLocks noGrp="1"/>
          </p:cNvSpPr>
          <p:nvPr>
            <p:ph type="title"/>
          </p:nvPr>
        </p:nvSpPr>
        <p:spPr>
          <a:xfrm>
            <a:off x="1451579" y="804519"/>
            <a:ext cx="9603275" cy="1049235"/>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1451579" y="2015732"/>
            <a:ext cx="9603275" cy="345061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554138" y="330370"/>
            <a:ext cx="3500715" cy="309201"/>
          </a:xfrm>
          <a:prstGeom prst="rect">
            <a:avLst/>
          </a:prstGeom>
        </p:spPr>
        <p:txBody>
          <a:bodyPr vert="horz" lIns="91440" tIns="45720" rIns="91440" bIns="45720" rtlCol="0" anchor="ctr"/>
          <a:lstStyle>
            <a:lvl1pPr algn="r">
              <a:defRPr sz="1000">
                <a:solidFill>
                  <a:schemeClr val="tx1">
                    <a:tint val="75000"/>
                  </a:schemeClr>
                </a:solidFill>
              </a:defRPr>
            </a:lvl1pPr>
          </a:lstStyle>
          <a:p>
            <a:fld id="{9F06304A-177C-493E-AD3C-87F69573086E}" type="datetimeFigureOut">
              <a:rPr lang="en-IN" smtClean="0"/>
              <a:t>10-05-2022</a:t>
            </a:fld>
            <a:endParaRPr lang="en-IN"/>
          </a:p>
        </p:txBody>
      </p:sp>
      <p:sp>
        <p:nvSpPr>
          <p:cNvPr id="5" name="Footer Placeholder 4"/>
          <p:cNvSpPr>
            <a:spLocks noGrp="1"/>
          </p:cNvSpPr>
          <p:nvPr>
            <p:ph type="ftr" sz="quarter" idx="3"/>
          </p:nvPr>
        </p:nvSpPr>
        <p:spPr>
          <a:xfrm>
            <a:off x="1451579" y="329307"/>
            <a:ext cx="5938836" cy="309201"/>
          </a:xfrm>
          <a:prstGeom prst="rect">
            <a:avLst/>
          </a:prstGeom>
        </p:spPr>
        <p:txBody>
          <a:bodyPr vert="horz" lIns="91440" tIns="45720" rIns="91440" bIns="45720" rtlCol="0" anchor="ctr"/>
          <a:lstStyle>
            <a:lvl1pPr algn="l">
              <a:defRPr sz="10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480060" y="798973"/>
            <a:ext cx="811019" cy="503578"/>
          </a:xfrm>
          <a:prstGeom prst="rect">
            <a:avLst/>
          </a:prstGeom>
        </p:spPr>
        <p:txBody>
          <a:bodyPr vert="horz" lIns="91440" tIns="45720" rIns="91440" bIns="45720" rtlCol="0" anchor="t"/>
          <a:lstStyle>
            <a:lvl1pPr algn="r">
              <a:defRPr sz="2800">
                <a:solidFill>
                  <a:schemeClr val="accent1"/>
                </a:solidFill>
              </a:defRPr>
            </a:lvl1pPr>
          </a:lstStyle>
          <a:p>
            <a:fld id="{AA7F0340-A9B5-48D4-B7DD-319BF68AD575}" type="slidenum">
              <a:rPr lang="en-IN" smtClean="0"/>
              <a:t>‹#›</a:t>
            </a:fld>
            <a:endParaRPr lang="en-IN"/>
          </a:p>
        </p:txBody>
      </p:sp>
      <p:cxnSp>
        <p:nvCxnSpPr>
          <p:cNvPr id="10" name="Straight Connector 9"/>
          <p:cNvCxnSpPr/>
          <p:nvPr/>
        </p:nvCxnSpPr>
        <p:spPr>
          <a:xfrm>
            <a:off x="0" y="6128413"/>
            <a:ext cx="12192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0016152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3200" b="0" i="0" kern="1200" cap="all">
          <a:solidFill>
            <a:schemeClr val="tx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accent1"/>
        </a:buClr>
        <a:buSzPct val="100000"/>
        <a:buFont typeface="Arial" panose="020B0604020202020204" pitchFamily="34" charset="0"/>
        <a:buChar char="•"/>
        <a:defRPr sz="2000" kern="120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800" kern="1200" cap="none"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600" kern="120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400" kern="1200" cap="none"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jpeg"/></Relationships>
</file>

<file path=ppt/slides/_rels/slide2.xml.rels><?xml version="1.0" encoding="UTF-8" standalone="yes"?>
<Relationships xmlns="http://schemas.openxmlformats.org/package/2006/relationships"><Relationship Id="rId3" Type="http://schemas.openxmlformats.org/officeDocument/2006/relationships/audio" Target="../media/audio2.wav"/><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audio" Target="../media/audio3.wav"/><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audio" Target="../media/audio4.wav"/><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audio" Target="../media/audio5.wav"/><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BA8DBB-684D-4AB1-88EE-3C2BFC595A6A}"/>
              </a:ext>
            </a:extLst>
          </p:cNvPr>
          <p:cNvSpPr>
            <a:spLocks noGrp="1"/>
          </p:cNvSpPr>
          <p:nvPr>
            <p:ph type="ctrTitle"/>
          </p:nvPr>
        </p:nvSpPr>
        <p:spPr>
          <a:xfrm>
            <a:off x="675861" y="689114"/>
            <a:ext cx="7156174" cy="1096900"/>
          </a:xfrm>
        </p:spPr>
        <p:txBody>
          <a:bodyPr/>
          <a:lstStyle/>
          <a:p>
            <a:pPr algn="ctr"/>
            <a:r>
              <a:rPr lang="en-US" sz="4800" b="1" i="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CATHODE RAY TUBE</a:t>
            </a:r>
            <a:endParaRPr lang="en-IN" sz="4800" b="1" i="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3" name="Subtitle 2">
            <a:extLst>
              <a:ext uri="{FF2B5EF4-FFF2-40B4-BE49-F238E27FC236}">
                <a16:creationId xmlns:a16="http://schemas.microsoft.com/office/drawing/2014/main" id="{30A58BFA-FF2F-4129-9081-50343F3F3C65}"/>
              </a:ext>
            </a:extLst>
          </p:cNvPr>
          <p:cNvSpPr>
            <a:spLocks noGrp="1"/>
          </p:cNvSpPr>
          <p:nvPr>
            <p:ph type="subTitle" idx="1"/>
          </p:nvPr>
        </p:nvSpPr>
        <p:spPr>
          <a:xfrm>
            <a:off x="4373217" y="2001080"/>
            <a:ext cx="3087758" cy="1096900"/>
          </a:xfrm>
        </p:spPr>
        <p:txBody>
          <a:bodyPr>
            <a:normAutofit/>
          </a:bodyPr>
          <a:lstStyle/>
          <a:p>
            <a:pPr algn="ctr"/>
            <a:r>
              <a:rPr lang="en-US" sz="4800" b="1" i="1">
                <a:solidFill>
                  <a:schemeClr val="accent1">
                    <a:lumMod val="60000"/>
                    <a:lumOff val="40000"/>
                  </a:schemeClr>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(CRT)</a:t>
            </a:r>
            <a:endParaRPr lang="en-IN" sz="4800" b="1" i="1" dirty="0">
              <a:solidFill>
                <a:schemeClr val="accent1">
                  <a:lumMod val="60000"/>
                  <a:lumOff val="40000"/>
                </a:schemeClr>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pic>
        <p:nvPicPr>
          <p:cNvPr id="1026" name="Picture 2" descr="Cathode-ray tube - Wikipedia">
            <a:extLst>
              <a:ext uri="{FF2B5EF4-FFF2-40B4-BE49-F238E27FC236}">
                <a16:creationId xmlns:a16="http://schemas.microsoft.com/office/drawing/2014/main" id="{6B563D48-E269-4947-9FA0-EA0661913CA3}"/>
              </a:ext>
            </a:extLst>
          </p:cNvPr>
          <p:cNvPicPr>
            <a:picLocks noChangeAspect="1" noChangeArrowheads="1"/>
          </p:cNvPicPr>
          <p:nvPr/>
        </p:nvPicPr>
        <p:blipFill>
          <a:blip r:embed="rId4">
            <a:duotone>
              <a:prstClr val="black"/>
              <a:schemeClr val="accent1">
                <a:tint val="45000"/>
                <a:satMod val="400000"/>
              </a:schemeClr>
            </a:duotone>
            <a:extLst>
              <a:ext uri="{28A0092B-C50C-407E-A947-70E740481C1C}">
                <a14:useLocalDpi xmlns:a14="http://schemas.microsoft.com/office/drawing/2010/main" val="0"/>
              </a:ext>
            </a:extLst>
          </a:blip>
          <a:srcRect/>
          <a:stretch>
            <a:fillRect/>
          </a:stretch>
        </p:blipFill>
        <p:spPr bwMode="auto">
          <a:xfrm>
            <a:off x="1364145" y="3220278"/>
            <a:ext cx="2836793" cy="2266122"/>
          </a:xfrm>
          <a:prstGeom prst="round2DiagRect">
            <a:avLst>
              <a:gd name="adj1" fmla="val 16667"/>
              <a:gd name="adj2" fmla="val 0"/>
            </a:avLst>
          </a:prstGeom>
          <a:ln w="88900" cap="sq">
            <a:solidFill>
              <a:srgbClr val="FFFFFF"/>
            </a:solidFill>
            <a:miter lim="800000"/>
          </a:ln>
          <a:effectLst>
            <a:innerShdw blurRad="63500" dist="50800" dir="18900000">
              <a:prstClr val="black">
                <a:alpha val="50000"/>
              </a:prstClr>
            </a:inn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87425219"/>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2000">
        <p15:prstTrans prst="crush"/>
        <p:sndAc>
          <p:stSnd>
            <p:snd r:embed="rId3" name="camera.wav"/>
          </p:stSnd>
        </p:sndAc>
      </p:transition>
    </mc:Choice>
    <mc:Fallback>
      <p:transition spd="slow">
        <p:fade/>
        <p:sndAc>
          <p:stSnd>
            <p:snd r:embed="rId3" name="camera.wav"/>
          </p:stSnd>
        </p:sndAc>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fade">
                                      <p:cBhvr>
                                        <p:cTn id="12" dur="1000"/>
                                        <p:tgtEl>
                                          <p:spTgt spid="3">
                                            <p:txEl>
                                              <p:pRg st="0" end="0"/>
                                            </p:txEl>
                                          </p:spTgt>
                                        </p:tgtEl>
                                      </p:cBhvr>
                                    </p:animEffect>
                                    <p:anim calcmode="lin" valueType="num">
                                      <p:cBhvr>
                                        <p:cTn id="13"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14" dur="1000" fill="hold"/>
                                        <p:tgtEl>
                                          <p:spTgt spid="3">
                                            <p:txEl>
                                              <p:pRg st="0" end="0"/>
                                            </p:txEl>
                                          </p:spTgt>
                                        </p:tgtEl>
                                        <p:attrNameLst>
                                          <p:attrName>ppt_y</p:attrName>
                                        </p:attrNameLst>
                                      </p:cBhvr>
                                      <p:tavLst>
                                        <p:tav tm="0">
                                          <p:val>
                                            <p:strVal val="#ppt_y+.1"/>
                                          </p:val>
                                        </p:tav>
                                        <p:tav tm="100000">
                                          <p:val>
                                            <p:strVal val="#ppt_y"/>
                                          </p:val>
                                        </p:tav>
                                      </p:tavLst>
                                    </p:anim>
                                  </p:childTnLst>
                                </p:cTn>
                              </p:par>
                              <p:par>
                                <p:cTn id="15" presetID="2" presetClass="entr" presetSubtype="4" fill="hold" nodeType="withEffect">
                                  <p:stCondLst>
                                    <p:cond delay="0"/>
                                  </p:stCondLst>
                                  <p:childTnLst>
                                    <p:set>
                                      <p:cBhvr>
                                        <p:cTn id="16" dur="1" fill="hold">
                                          <p:stCondLst>
                                            <p:cond delay="0"/>
                                          </p:stCondLst>
                                        </p:cTn>
                                        <p:tgtEl>
                                          <p:spTgt spid="1026"/>
                                        </p:tgtEl>
                                        <p:attrNameLst>
                                          <p:attrName>style.visibility</p:attrName>
                                        </p:attrNameLst>
                                      </p:cBhvr>
                                      <p:to>
                                        <p:strVal val="visible"/>
                                      </p:to>
                                    </p:set>
                                    <p:anim calcmode="lin" valueType="num">
                                      <p:cBhvr additive="base">
                                        <p:cTn id="17" dur="500" fill="hold"/>
                                        <p:tgtEl>
                                          <p:spTgt spid="1026"/>
                                        </p:tgtEl>
                                        <p:attrNameLst>
                                          <p:attrName>ppt_x</p:attrName>
                                        </p:attrNameLst>
                                      </p:cBhvr>
                                      <p:tavLst>
                                        <p:tav tm="0">
                                          <p:val>
                                            <p:strVal val="#ppt_x"/>
                                          </p:val>
                                        </p:tav>
                                        <p:tav tm="100000">
                                          <p:val>
                                            <p:strVal val="#ppt_x"/>
                                          </p:val>
                                        </p:tav>
                                      </p:tavLst>
                                    </p:anim>
                                    <p:anim calcmode="lin" valueType="num">
                                      <p:cBhvr additive="base">
                                        <p:cTn id="18" dur="500" fill="hold"/>
                                        <p:tgtEl>
                                          <p:spTgt spid="102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0DE823-2A8D-4AC5-8A32-4CF6A2EA83F6}"/>
              </a:ext>
            </a:extLst>
          </p:cNvPr>
          <p:cNvSpPr>
            <a:spLocks noGrp="1"/>
          </p:cNvSpPr>
          <p:nvPr>
            <p:ph type="title"/>
          </p:nvPr>
        </p:nvSpPr>
        <p:spPr/>
        <p:txBody>
          <a:bodyPr>
            <a:normAutofit/>
          </a:bodyPr>
          <a:lstStyle/>
          <a:p>
            <a:r>
              <a:rPr lang="en-US" sz="4800" b="1" i="1" dirty="0">
                <a:solidFill>
                  <a:schemeClr val="accent1">
                    <a:lumMod val="75000"/>
                  </a:schemeClr>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WHAT IS CRT?</a:t>
            </a:r>
            <a:endParaRPr lang="en-IN" sz="4800" b="1" i="1" dirty="0">
              <a:solidFill>
                <a:schemeClr val="accent1">
                  <a:lumMod val="75000"/>
                </a:schemeClr>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3CE696A0-3612-4709-B1C5-26819DDFD9AB}"/>
              </a:ext>
            </a:extLst>
          </p:cNvPr>
          <p:cNvSpPr>
            <a:spLocks noGrp="1"/>
          </p:cNvSpPr>
          <p:nvPr>
            <p:ph idx="1"/>
          </p:nvPr>
        </p:nvSpPr>
        <p:spPr/>
        <p:txBody>
          <a:bodyPr>
            <a:normAutofit/>
          </a:bodyPr>
          <a:lstStyle/>
          <a:p>
            <a:pPr algn="just">
              <a:buFont typeface="Wingdings" panose="05000000000000000000" pitchFamily="2" charset="2"/>
              <a:buChar char="v"/>
            </a:pPr>
            <a:r>
              <a:rPr lang="en-US" sz="2000" b="1" i="1" dirty="0">
                <a:solidFill>
                  <a:schemeClr val="accent1">
                    <a:lumMod val="75000"/>
                  </a:schemeClr>
                </a:solidFill>
                <a:effectLst>
                  <a:outerShdw blurRad="38100" dist="38100" dir="2700000" algn="tl">
                    <a:srgbClr val="000000">
                      <a:alpha val="43137"/>
                    </a:srgbClr>
                  </a:outerShdw>
                </a:effectLst>
              </a:rPr>
              <a:t>CRT is the technology which is used in display devices.</a:t>
            </a:r>
          </a:p>
          <a:p>
            <a:pPr algn="just">
              <a:buFont typeface="Wingdings" panose="05000000000000000000" pitchFamily="2" charset="2"/>
              <a:buChar char="v"/>
            </a:pPr>
            <a:r>
              <a:rPr lang="en-US" sz="2000" b="1" i="1" dirty="0">
                <a:solidFill>
                  <a:schemeClr val="accent1">
                    <a:lumMod val="75000"/>
                  </a:schemeClr>
                </a:solidFill>
                <a:effectLst>
                  <a:outerShdw blurRad="38100" dist="38100" dir="2700000" algn="tl">
                    <a:srgbClr val="000000">
                      <a:alpha val="43137"/>
                    </a:srgbClr>
                  </a:outerShdw>
                </a:effectLst>
              </a:rPr>
              <a:t>Basically display devices are the devices for showing the information in visual form, such as computer monitor, TV etc.</a:t>
            </a:r>
          </a:p>
          <a:p>
            <a:pPr algn="just">
              <a:buFont typeface="Wingdings" panose="05000000000000000000" pitchFamily="2" charset="2"/>
              <a:buChar char="v"/>
            </a:pPr>
            <a:r>
              <a:rPr lang="en-US" sz="2000" b="1" i="1" dirty="0">
                <a:solidFill>
                  <a:schemeClr val="accent1">
                    <a:lumMod val="75000"/>
                  </a:schemeClr>
                </a:solidFill>
                <a:effectLst>
                  <a:outerShdw blurRad="38100" dist="38100" dir="2700000" algn="tl">
                    <a:srgbClr val="000000">
                      <a:alpha val="43137"/>
                    </a:srgbClr>
                  </a:outerShdw>
                </a:effectLst>
              </a:rPr>
              <a:t>These CRT displays are used mostly by graphics professionals, because it offers good variant and good accurate </a:t>
            </a:r>
            <a:r>
              <a:rPr lang="en-US" sz="2000" b="1" i="1" dirty="0" err="1">
                <a:solidFill>
                  <a:schemeClr val="accent1">
                    <a:lumMod val="75000"/>
                  </a:schemeClr>
                </a:solidFill>
                <a:effectLst>
                  <a:outerShdw blurRad="38100" dist="38100" dir="2700000" algn="tl">
                    <a:srgbClr val="000000">
                      <a:alpha val="43137"/>
                    </a:srgbClr>
                  </a:outerShdw>
                </a:effectLst>
              </a:rPr>
              <a:t>colours</a:t>
            </a:r>
            <a:r>
              <a:rPr lang="en-US" sz="2000" b="1" i="1" dirty="0">
                <a:solidFill>
                  <a:schemeClr val="accent1">
                    <a:lumMod val="75000"/>
                  </a:schemeClr>
                </a:solidFill>
                <a:effectLst>
                  <a:outerShdw blurRad="38100" dist="38100" dir="2700000" algn="tl">
                    <a:srgbClr val="000000">
                      <a:alpha val="43137"/>
                    </a:srgbClr>
                  </a:outerShdw>
                </a:effectLst>
              </a:rPr>
              <a:t>.</a:t>
            </a:r>
          </a:p>
          <a:p>
            <a:pPr marL="0" indent="0" algn="just">
              <a:buNone/>
            </a:pPr>
            <a:endParaRPr lang="en-IN" sz="2400" b="1" i="1" dirty="0">
              <a:solidFill>
                <a:schemeClr val="accent1">
                  <a:lumMod val="75000"/>
                </a:schemeClr>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2150570363"/>
      </p:ext>
    </p:extLst>
  </p:cSld>
  <p:clrMapOvr>
    <a:masterClrMapping/>
  </p:clrMapOvr>
  <p:transition spd="slow">
    <p:randomBar dir="vert"/>
    <p:sndAc>
      <p:stSnd>
        <p:snd r:embed="rId3" name="bomb.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circle(in)">
                                      <p:cBhvr>
                                        <p:cTn id="7" dur="2000"/>
                                        <p:tgtEl>
                                          <p:spTgt spid="2"/>
                                        </p:tgtEl>
                                      </p:cBhvr>
                                    </p:animEffect>
                                  </p:childTnLst>
                                </p:cTn>
                              </p:par>
                              <p:par>
                                <p:cTn id="8" presetID="26" presetClass="emph" presetSubtype="0" fill="hold" nodeType="withEffect">
                                  <p:stCondLst>
                                    <p:cond delay="0"/>
                                  </p:stCondLst>
                                  <p:childTnLst>
                                    <p:animEffect transition="out" filter="fade">
                                      <p:cBhvr>
                                        <p:cTn id="9" dur="500" tmFilter="0, 0; .2, .5; .8, .5; 1, 0"/>
                                        <p:tgtEl>
                                          <p:spTgt spid="3">
                                            <p:txEl>
                                              <p:pRg st="0" end="0"/>
                                            </p:txEl>
                                          </p:spTgt>
                                        </p:tgtEl>
                                      </p:cBhvr>
                                    </p:animEffect>
                                    <p:animScale>
                                      <p:cBhvr>
                                        <p:cTn id="10" dur="250" autoRev="1" fill="hold"/>
                                        <p:tgtEl>
                                          <p:spTgt spid="3">
                                            <p:txEl>
                                              <p:pRg st="0" end="0"/>
                                            </p:txEl>
                                          </p:spTgt>
                                        </p:tgtEl>
                                      </p:cBhvr>
                                      <p:by x="105000" y="105000"/>
                                    </p:animScale>
                                  </p:childTnLst>
                                </p:cTn>
                              </p:par>
                              <p:par>
                                <p:cTn id="11" presetID="26" presetClass="emph" presetSubtype="0" fill="hold" nodeType="withEffect">
                                  <p:stCondLst>
                                    <p:cond delay="0"/>
                                  </p:stCondLst>
                                  <p:childTnLst>
                                    <p:animEffect transition="out" filter="fade">
                                      <p:cBhvr>
                                        <p:cTn id="12" dur="500" tmFilter="0, 0; .2, .5; .8, .5; 1, 0"/>
                                        <p:tgtEl>
                                          <p:spTgt spid="3">
                                            <p:txEl>
                                              <p:pRg st="1" end="1"/>
                                            </p:txEl>
                                          </p:spTgt>
                                        </p:tgtEl>
                                      </p:cBhvr>
                                    </p:animEffect>
                                    <p:animScale>
                                      <p:cBhvr>
                                        <p:cTn id="13" dur="250" autoRev="1" fill="hold"/>
                                        <p:tgtEl>
                                          <p:spTgt spid="3">
                                            <p:txEl>
                                              <p:pRg st="1" end="1"/>
                                            </p:txEl>
                                          </p:spTgt>
                                        </p:tgtEl>
                                      </p:cBhvr>
                                      <p:by x="105000" y="105000"/>
                                    </p:animScale>
                                  </p:childTnLst>
                                </p:cTn>
                              </p:par>
                              <p:par>
                                <p:cTn id="14" presetID="26" presetClass="emph" presetSubtype="0" fill="hold" nodeType="withEffect">
                                  <p:stCondLst>
                                    <p:cond delay="0"/>
                                  </p:stCondLst>
                                  <p:childTnLst>
                                    <p:animEffect transition="out" filter="fade">
                                      <p:cBhvr>
                                        <p:cTn id="15" dur="500" tmFilter="0, 0; .2, .5; .8, .5; 1, 0"/>
                                        <p:tgtEl>
                                          <p:spTgt spid="3">
                                            <p:txEl>
                                              <p:pRg st="2" end="2"/>
                                            </p:txEl>
                                          </p:spTgt>
                                        </p:tgtEl>
                                      </p:cBhvr>
                                    </p:animEffect>
                                    <p:animScale>
                                      <p:cBhvr>
                                        <p:cTn id="16" dur="250" autoRev="1" fill="hold"/>
                                        <p:tgtEl>
                                          <p:spTgt spid="3">
                                            <p:txEl>
                                              <p:pRg st="2" end="2"/>
                                            </p:txEl>
                                          </p:spTgt>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AF6CE6-DA18-489F-B9F9-568B5E8F044D}"/>
              </a:ext>
            </a:extLst>
          </p:cNvPr>
          <p:cNvSpPr>
            <a:spLocks noGrp="1"/>
          </p:cNvSpPr>
          <p:nvPr>
            <p:ph type="title"/>
          </p:nvPr>
        </p:nvSpPr>
        <p:spPr>
          <a:xfrm>
            <a:off x="1129553" y="609600"/>
            <a:ext cx="8412012" cy="1320800"/>
          </a:xfrm>
        </p:spPr>
        <p:txBody>
          <a:bodyPr>
            <a:noAutofit/>
          </a:bodyPr>
          <a:lstStyle/>
          <a:p>
            <a:r>
              <a:rPr lang="en-US" sz="4800" b="1" i="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OVERALL WORKING OF CRT</a:t>
            </a:r>
            <a:endParaRPr lang="en-IN" sz="4800" b="1" i="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4933CB28-5E18-4742-9F61-21358C8BB348}"/>
              </a:ext>
            </a:extLst>
          </p:cNvPr>
          <p:cNvSpPr>
            <a:spLocks noGrp="1"/>
          </p:cNvSpPr>
          <p:nvPr>
            <p:ph idx="1"/>
          </p:nvPr>
        </p:nvSpPr>
        <p:spPr/>
        <p:txBody>
          <a:bodyPr/>
          <a:lstStyle/>
          <a:p>
            <a:pPr algn="just">
              <a:buFont typeface="Wingdings" panose="05000000000000000000" pitchFamily="2" charset="2"/>
              <a:buChar char="v"/>
            </a:pPr>
            <a:r>
              <a:rPr lang="en-US" sz="2000" dirty="0">
                <a:solidFill>
                  <a:schemeClr val="accent1">
                    <a:lumMod val="75000"/>
                  </a:schemeClr>
                </a:solidFill>
              </a:rPr>
              <a:t>The cathode ray tube(CRT) is a vacuum tube containing an electron gun(a source of electrons)and a fluorescent screen, with internal or external means to accelerate and deflect electron beam, used to create image in the form of light emitted from the fluorescent screen. The image may represent pictures, which is used in television, computer monitor.</a:t>
            </a:r>
          </a:p>
          <a:p>
            <a:pPr marL="0" indent="0">
              <a:buNone/>
            </a:pPr>
            <a:endParaRPr lang="en-IN" dirty="0"/>
          </a:p>
        </p:txBody>
      </p:sp>
    </p:spTree>
    <p:extLst>
      <p:ext uri="{BB962C8B-B14F-4D97-AF65-F5344CB8AC3E}">
        <p14:creationId xmlns:p14="http://schemas.microsoft.com/office/powerpoint/2010/main" val="1602368232"/>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2000">
        <p15:prstTrans prst="fracture"/>
        <p:sndAc>
          <p:stSnd>
            <p:snd r:embed="rId3" name="hammer.wav"/>
          </p:stSnd>
        </p:sndAc>
      </p:transition>
    </mc:Choice>
    <mc:Fallback>
      <p:transition spd="slow">
        <p:fade/>
        <p:sndAc>
          <p:stSnd>
            <p:snd r:embed="rId3" name="hammer.wav"/>
          </p:stSnd>
        </p:sndAc>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2" presetClass="emph" presetSubtype="0" fill="hold" grpId="0" nodeType="clickEffect">
                                  <p:stCondLst>
                                    <p:cond delay="0"/>
                                  </p:stCondLst>
                                  <p:childTnLst>
                                    <p:animRot by="120000">
                                      <p:cBhvr>
                                        <p:cTn id="6" dur="100" fill="hold">
                                          <p:stCondLst>
                                            <p:cond delay="0"/>
                                          </p:stCondLst>
                                        </p:cTn>
                                        <p:tgtEl>
                                          <p:spTgt spid="2"/>
                                        </p:tgtEl>
                                        <p:attrNameLst>
                                          <p:attrName>r</p:attrName>
                                        </p:attrNameLst>
                                      </p:cBhvr>
                                    </p:animRot>
                                    <p:animRot by="-240000">
                                      <p:cBhvr>
                                        <p:cTn id="7" dur="200" fill="hold">
                                          <p:stCondLst>
                                            <p:cond delay="200"/>
                                          </p:stCondLst>
                                        </p:cTn>
                                        <p:tgtEl>
                                          <p:spTgt spid="2"/>
                                        </p:tgtEl>
                                        <p:attrNameLst>
                                          <p:attrName>r</p:attrName>
                                        </p:attrNameLst>
                                      </p:cBhvr>
                                    </p:animRot>
                                    <p:animRot by="240000">
                                      <p:cBhvr>
                                        <p:cTn id="8" dur="200" fill="hold">
                                          <p:stCondLst>
                                            <p:cond delay="400"/>
                                          </p:stCondLst>
                                        </p:cTn>
                                        <p:tgtEl>
                                          <p:spTgt spid="2"/>
                                        </p:tgtEl>
                                        <p:attrNameLst>
                                          <p:attrName>r</p:attrName>
                                        </p:attrNameLst>
                                      </p:cBhvr>
                                    </p:animRot>
                                    <p:animRot by="-240000">
                                      <p:cBhvr>
                                        <p:cTn id="9" dur="200" fill="hold">
                                          <p:stCondLst>
                                            <p:cond delay="600"/>
                                          </p:stCondLst>
                                        </p:cTn>
                                        <p:tgtEl>
                                          <p:spTgt spid="2"/>
                                        </p:tgtEl>
                                        <p:attrNameLst>
                                          <p:attrName>r</p:attrName>
                                        </p:attrNameLst>
                                      </p:cBhvr>
                                    </p:animRot>
                                    <p:animRot by="120000">
                                      <p:cBhvr>
                                        <p:cTn id="10" dur="200" fill="hold">
                                          <p:stCondLst>
                                            <p:cond delay="800"/>
                                          </p:stCondLst>
                                        </p:cTn>
                                        <p:tgtEl>
                                          <p:spTgt spid="2"/>
                                        </p:tgtEl>
                                        <p:attrNameLst>
                                          <p:attrName>r</p:attrName>
                                        </p:attrNameLst>
                                      </p:cBhvr>
                                    </p:animRot>
                                  </p:childTnLst>
                                </p:cTn>
                              </p:par>
                              <p:par>
                                <p:cTn id="11" presetID="27" presetClass="emph" presetSubtype="0" fill="remove" nodeType="withEffect">
                                  <p:stCondLst>
                                    <p:cond delay="0"/>
                                  </p:stCondLst>
                                  <p:childTnLst>
                                    <p:animClr clrSpc="rgb" dir="cw">
                                      <p:cBhvr override="childStyle">
                                        <p:cTn id="12" dur="250" autoRev="1" fill="remove"/>
                                        <p:tgtEl>
                                          <p:spTgt spid="3">
                                            <p:txEl>
                                              <p:pRg st="0" end="0"/>
                                            </p:txEl>
                                          </p:spTgt>
                                        </p:tgtEl>
                                        <p:attrNameLst>
                                          <p:attrName>style.color</p:attrName>
                                        </p:attrNameLst>
                                      </p:cBhvr>
                                      <p:to>
                                        <a:schemeClr val="bg1"/>
                                      </p:to>
                                    </p:animClr>
                                    <p:animClr clrSpc="rgb" dir="cw">
                                      <p:cBhvr>
                                        <p:cTn id="13" dur="250" autoRev="1" fill="remove"/>
                                        <p:tgtEl>
                                          <p:spTgt spid="3">
                                            <p:txEl>
                                              <p:pRg st="0" end="0"/>
                                            </p:txEl>
                                          </p:spTgt>
                                        </p:tgtEl>
                                        <p:attrNameLst>
                                          <p:attrName>fillcolor</p:attrName>
                                        </p:attrNameLst>
                                      </p:cBhvr>
                                      <p:to>
                                        <a:schemeClr val="bg1"/>
                                      </p:to>
                                    </p:animClr>
                                    <p:set>
                                      <p:cBhvr>
                                        <p:cTn id="14" dur="250" autoRev="1" fill="remove"/>
                                        <p:tgtEl>
                                          <p:spTgt spid="3">
                                            <p:txEl>
                                              <p:pRg st="0" end="0"/>
                                            </p:txEl>
                                          </p:spTgt>
                                        </p:tgtEl>
                                        <p:attrNameLst>
                                          <p:attrName>fill.type</p:attrName>
                                        </p:attrNameLst>
                                      </p:cBhvr>
                                      <p:to>
                                        <p:strVal val="solid"/>
                                      </p:to>
                                    </p:set>
                                    <p:set>
                                      <p:cBhvr>
                                        <p:cTn id="15" dur="250" autoRev="1" fill="remove"/>
                                        <p:tgtEl>
                                          <p:spTgt spid="3">
                                            <p:txEl>
                                              <p:pRg st="0" end="0"/>
                                            </p:txEl>
                                          </p:spTgt>
                                        </p:tgtEl>
                                        <p:attrNameLst>
                                          <p:attrName>fill.on</p:attrName>
                                        </p:attrNameLst>
                                      </p:cBhvr>
                                      <p:to>
                                        <p:strVal val="tru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4FC0A9-343A-417E-AA8A-5CD60F3EBAD2}"/>
              </a:ext>
            </a:extLst>
          </p:cNvPr>
          <p:cNvSpPr>
            <a:spLocks noGrp="1"/>
          </p:cNvSpPr>
          <p:nvPr>
            <p:ph type="title"/>
          </p:nvPr>
        </p:nvSpPr>
        <p:spPr/>
        <p:txBody>
          <a:bodyPr>
            <a:normAutofit/>
          </a:bodyPr>
          <a:lstStyle/>
          <a:p>
            <a:r>
              <a:rPr lang="en-US" sz="4800" b="1" i="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ADVANTAGES OF CRT</a:t>
            </a:r>
            <a:endParaRPr lang="en-IN" sz="4800" b="1" i="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00C5B9CD-3F25-467C-962B-12720DCD779E}"/>
              </a:ext>
            </a:extLst>
          </p:cNvPr>
          <p:cNvSpPr>
            <a:spLocks noGrp="1"/>
          </p:cNvSpPr>
          <p:nvPr>
            <p:ph idx="1"/>
          </p:nvPr>
        </p:nvSpPr>
        <p:spPr/>
        <p:txBody>
          <a:bodyPr>
            <a:normAutofit fontScale="92500" lnSpcReduction="20000"/>
          </a:bodyPr>
          <a:lstStyle/>
          <a:p>
            <a:pPr fontAlgn="base">
              <a:lnSpc>
                <a:spcPct val="150000"/>
              </a:lnSpc>
              <a:spcAft>
                <a:spcPts val="600"/>
              </a:spcAft>
              <a:buSzPts val="1000"/>
              <a:buFont typeface="Wingdings" panose="05000000000000000000" pitchFamily="2" charset="2"/>
              <a:buChar char="v"/>
              <a:tabLst>
                <a:tab pos="457200" algn="l"/>
              </a:tabLst>
            </a:pPr>
            <a:r>
              <a:rPr lang="en-IN" sz="2000" dirty="0">
                <a:solidFill>
                  <a:schemeClr val="accent1">
                    <a:lumMod val="75000"/>
                  </a:schemeClr>
                </a:solidFill>
                <a:latin typeface="Times New Roman" panose="02020603050405020304" pitchFamily="18" charset="0"/>
                <a:ea typeface="Times New Roman" panose="02020603050405020304" pitchFamily="18" charset="0"/>
                <a:cs typeface="Times New Roman" panose="02020603050405020304" pitchFamily="18" charset="0"/>
              </a:rPr>
              <a:t>It is used in cathode ray oscilloscope.</a:t>
            </a:r>
          </a:p>
          <a:p>
            <a:pPr fontAlgn="base">
              <a:lnSpc>
                <a:spcPct val="150000"/>
              </a:lnSpc>
              <a:spcAft>
                <a:spcPts val="600"/>
              </a:spcAft>
              <a:buSzPts val="1000"/>
              <a:buFont typeface="Wingdings" panose="05000000000000000000" pitchFamily="2" charset="2"/>
              <a:buChar char="v"/>
              <a:tabLst>
                <a:tab pos="457200" algn="l"/>
              </a:tabLst>
            </a:pPr>
            <a:r>
              <a:rPr lang="en-IN" sz="2000" dirty="0">
                <a:solidFill>
                  <a:schemeClr val="accent1">
                    <a:lumMod val="75000"/>
                  </a:schemeClr>
                </a:solidFill>
                <a:latin typeface="Times New Roman" panose="02020603050405020304" pitchFamily="18" charset="0"/>
                <a:ea typeface="Times New Roman" panose="02020603050405020304" pitchFamily="18" charset="0"/>
                <a:cs typeface="Times New Roman" panose="02020603050405020304" pitchFamily="18" charset="0"/>
              </a:rPr>
              <a:t>CRTs are less expensive.</a:t>
            </a:r>
          </a:p>
          <a:p>
            <a:pPr fontAlgn="base">
              <a:lnSpc>
                <a:spcPct val="150000"/>
              </a:lnSpc>
              <a:spcAft>
                <a:spcPts val="600"/>
              </a:spcAft>
              <a:buSzPts val="1000"/>
              <a:buFont typeface="Wingdings" panose="05000000000000000000" pitchFamily="2" charset="2"/>
              <a:buChar char="v"/>
              <a:tabLst>
                <a:tab pos="457200" algn="l"/>
              </a:tabLst>
            </a:pPr>
            <a:r>
              <a:rPr lang="en-IN" sz="2000" dirty="0">
                <a:solidFill>
                  <a:schemeClr val="accent1">
                    <a:lumMod val="75000"/>
                  </a:schemeClr>
                </a:solidFill>
                <a:latin typeface="Times New Roman" panose="02020603050405020304" pitchFamily="18" charset="0"/>
                <a:ea typeface="Times New Roman" panose="02020603050405020304" pitchFamily="18" charset="0"/>
                <a:cs typeface="Times New Roman" panose="02020603050405020304" pitchFamily="18" charset="0"/>
              </a:rPr>
              <a:t>It is used as a display device in radar.</a:t>
            </a:r>
          </a:p>
          <a:p>
            <a:pPr fontAlgn="base">
              <a:lnSpc>
                <a:spcPct val="150000"/>
              </a:lnSpc>
              <a:spcAft>
                <a:spcPts val="600"/>
              </a:spcAft>
              <a:buSzPts val="1000"/>
              <a:buFont typeface="Wingdings" panose="05000000000000000000" pitchFamily="2" charset="2"/>
              <a:buChar char="v"/>
              <a:tabLst>
                <a:tab pos="457200" algn="l"/>
              </a:tabLst>
            </a:pPr>
            <a:r>
              <a:rPr lang="en-IN" sz="2000" dirty="0">
                <a:solidFill>
                  <a:schemeClr val="accent1">
                    <a:lumMod val="75000"/>
                  </a:schemeClr>
                </a:solidFill>
                <a:latin typeface="Times New Roman" panose="02020603050405020304" pitchFamily="18" charset="0"/>
                <a:ea typeface="Times New Roman" panose="02020603050405020304" pitchFamily="18" charset="0"/>
                <a:cs typeface="Times New Roman" panose="02020603050405020304" pitchFamily="18" charset="0"/>
              </a:rPr>
              <a:t>CRTs run at the highest pixel resolutions generally available.</a:t>
            </a:r>
          </a:p>
          <a:p>
            <a:pPr fontAlgn="base">
              <a:lnSpc>
                <a:spcPct val="150000"/>
              </a:lnSpc>
              <a:spcAft>
                <a:spcPts val="600"/>
              </a:spcAft>
              <a:buSzPts val="1000"/>
              <a:buFont typeface="Wingdings" panose="05000000000000000000" pitchFamily="2" charset="2"/>
              <a:buChar char="v"/>
              <a:tabLst>
                <a:tab pos="457200" algn="l"/>
              </a:tabLst>
            </a:pPr>
            <a:r>
              <a:rPr lang="en-IN" sz="2000" dirty="0">
                <a:solidFill>
                  <a:schemeClr val="accent1">
                    <a:lumMod val="75000"/>
                  </a:schemeClr>
                </a:solidFill>
                <a:latin typeface="Times New Roman" panose="02020603050405020304" pitchFamily="18" charset="0"/>
                <a:ea typeface="Times New Roman" panose="02020603050405020304" pitchFamily="18" charset="0"/>
                <a:cs typeface="Times New Roman" panose="02020603050405020304" pitchFamily="18" charset="0"/>
              </a:rPr>
              <a:t>It is used in televisions and monitors.</a:t>
            </a:r>
          </a:p>
          <a:p>
            <a:pPr fontAlgn="base">
              <a:lnSpc>
                <a:spcPct val="150000"/>
              </a:lnSpc>
              <a:spcAft>
                <a:spcPts val="600"/>
              </a:spcAft>
              <a:buSzPts val="1000"/>
              <a:buFont typeface="Wingdings" panose="05000000000000000000" pitchFamily="2" charset="2"/>
              <a:buChar char="v"/>
              <a:tabLst>
                <a:tab pos="457200" algn="l"/>
              </a:tabLst>
            </a:pPr>
            <a:r>
              <a:rPr lang="en-IN" sz="2000" dirty="0">
                <a:solidFill>
                  <a:schemeClr val="accent1">
                    <a:lumMod val="75000"/>
                  </a:schemeClr>
                </a:solidFill>
                <a:latin typeface="Times New Roman" panose="02020603050405020304" pitchFamily="18" charset="0"/>
                <a:ea typeface="Times New Roman" panose="02020603050405020304" pitchFamily="18" charset="0"/>
                <a:cs typeface="Times New Roman" panose="02020603050405020304" pitchFamily="18" charset="0"/>
              </a:rPr>
              <a:t>CRTs have fast response times and no motion artifacts.</a:t>
            </a:r>
          </a:p>
          <a:p>
            <a:endParaRPr lang="en-IN" dirty="0"/>
          </a:p>
        </p:txBody>
      </p:sp>
    </p:spTree>
    <p:extLst>
      <p:ext uri="{BB962C8B-B14F-4D97-AF65-F5344CB8AC3E}">
        <p14:creationId xmlns:p14="http://schemas.microsoft.com/office/powerpoint/2010/main" val="241282070"/>
      </p:ext>
    </p:extLst>
  </p:cSld>
  <p:clrMapOvr>
    <a:masterClrMapping/>
  </p:clrMapOvr>
  <p:transition spd="slow">
    <p:comb/>
    <p:sndAc>
      <p:stSnd>
        <p:snd r:embed="rId3" name="push.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mph" presetSubtype="0" fill="hold" grpId="0" nodeType="clickEffect">
                                  <p:stCondLst>
                                    <p:cond delay="0"/>
                                  </p:stCondLst>
                                  <p:childTnLst>
                                    <p:animEffect transition="out" filter="fade">
                                      <p:cBhvr>
                                        <p:cTn id="6" dur="500" tmFilter="0, 0; .2, .5; .8, .5; 1, 0"/>
                                        <p:tgtEl>
                                          <p:spTgt spid="2"/>
                                        </p:tgtEl>
                                      </p:cBhvr>
                                    </p:animEffect>
                                    <p:animScale>
                                      <p:cBhvr>
                                        <p:cTn id="7" dur="250" autoRev="1" fill="hold"/>
                                        <p:tgtEl>
                                          <p:spTgt spid="2"/>
                                        </p:tgtEl>
                                      </p:cBhvr>
                                      <p:by x="105000" y="105000"/>
                                    </p:animScale>
                                  </p:childTnLst>
                                </p:cTn>
                              </p:par>
                            </p:childTnLst>
                          </p:cTn>
                        </p:par>
                      </p:childTnLst>
                    </p:cTn>
                  </p:par>
                  <p:par>
                    <p:cTn id="8" fill="hold">
                      <p:stCondLst>
                        <p:cond delay="indefinite"/>
                      </p:stCondLst>
                      <p:childTnLst>
                        <p:par>
                          <p:cTn id="9" fill="hold">
                            <p:stCondLst>
                              <p:cond delay="0"/>
                            </p:stCondLst>
                            <p:childTnLst>
                              <p:par>
                                <p:cTn id="10" presetID="19" presetClass="emph" presetSubtype="0" fill="hold" nodeType="clickEffect">
                                  <p:stCondLst>
                                    <p:cond delay="0"/>
                                  </p:stCondLst>
                                  <p:childTnLst>
                                    <p:animClr clrSpc="rgb" dir="cw">
                                      <p:cBhvr override="childStyle">
                                        <p:cTn id="11" dur="500" fill="hold"/>
                                        <p:tgtEl>
                                          <p:spTgt spid="3">
                                            <p:txEl>
                                              <p:pRg st="0" end="0"/>
                                            </p:txEl>
                                          </p:spTgt>
                                        </p:tgtEl>
                                        <p:attrNameLst>
                                          <p:attrName>style.color</p:attrName>
                                        </p:attrNameLst>
                                      </p:cBhvr>
                                      <p:to>
                                        <a:schemeClr val="accent2"/>
                                      </p:to>
                                    </p:animClr>
                                    <p:animClr clrSpc="rgb" dir="cw">
                                      <p:cBhvr>
                                        <p:cTn id="12" dur="500" fill="hold"/>
                                        <p:tgtEl>
                                          <p:spTgt spid="3">
                                            <p:txEl>
                                              <p:pRg st="0" end="0"/>
                                            </p:txEl>
                                          </p:spTgt>
                                        </p:tgtEl>
                                        <p:attrNameLst>
                                          <p:attrName>fillcolor</p:attrName>
                                        </p:attrNameLst>
                                      </p:cBhvr>
                                      <p:to>
                                        <a:schemeClr val="accent2"/>
                                      </p:to>
                                    </p:animClr>
                                    <p:set>
                                      <p:cBhvr>
                                        <p:cTn id="13" dur="500" fill="hold"/>
                                        <p:tgtEl>
                                          <p:spTgt spid="3">
                                            <p:txEl>
                                              <p:pRg st="0" end="0"/>
                                            </p:txEl>
                                          </p:spTgt>
                                        </p:tgtEl>
                                        <p:attrNameLst>
                                          <p:attrName>fill.type</p:attrName>
                                        </p:attrNameLst>
                                      </p:cBhvr>
                                      <p:to>
                                        <p:strVal val="solid"/>
                                      </p:to>
                                    </p:set>
                                    <p:set>
                                      <p:cBhvr>
                                        <p:cTn id="14" dur="500" fill="hold"/>
                                        <p:tgtEl>
                                          <p:spTgt spid="3">
                                            <p:txEl>
                                              <p:pRg st="0" end="0"/>
                                            </p:txEl>
                                          </p:spTgt>
                                        </p:tgtEl>
                                        <p:attrNameLst>
                                          <p:attrName>fill.on</p:attrName>
                                        </p:attrNameLst>
                                      </p:cBhvr>
                                      <p:to>
                                        <p:strVal val="true"/>
                                      </p:to>
                                    </p:set>
                                  </p:childTnLst>
                                </p:cTn>
                              </p:par>
                              <p:par>
                                <p:cTn id="15" presetID="19" presetClass="emph" presetSubtype="0" fill="hold" nodeType="withEffect">
                                  <p:stCondLst>
                                    <p:cond delay="0"/>
                                  </p:stCondLst>
                                  <p:childTnLst>
                                    <p:animClr clrSpc="rgb" dir="cw">
                                      <p:cBhvr override="childStyle">
                                        <p:cTn id="16" dur="500" fill="hold"/>
                                        <p:tgtEl>
                                          <p:spTgt spid="3">
                                            <p:txEl>
                                              <p:pRg st="1" end="1"/>
                                            </p:txEl>
                                          </p:spTgt>
                                        </p:tgtEl>
                                        <p:attrNameLst>
                                          <p:attrName>style.color</p:attrName>
                                        </p:attrNameLst>
                                      </p:cBhvr>
                                      <p:to>
                                        <a:schemeClr val="accent2"/>
                                      </p:to>
                                    </p:animClr>
                                    <p:animClr clrSpc="rgb" dir="cw">
                                      <p:cBhvr>
                                        <p:cTn id="17" dur="500" fill="hold"/>
                                        <p:tgtEl>
                                          <p:spTgt spid="3">
                                            <p:txEl>
                                              <p:pRg st="1" end="1"/>
                                            </p:txEl>
                                          </p:spTgt>
                                        </p:tgtEl>
                                        <p:attrNameLst>
                                          <p:attrName>fillcolor</p:attrName>
                                        </p:attrNameLst>
                                      </p:cBhvr>
                                      <p:to>
                                        <a:schemeClr val="accent2"/>
                                      </p:to>
                                    </p:animClr>
                                    <p:set>
                                      <p:cBhvr>
                                        <p:cTn id="18" dur="500" fill="hold"/>
                                        <p:tgtEl>
                                          <p:spTgt spid="3">
                                            <p:txEl>
                                              <p:pRg st="1" end="1"/>
                                            </p:txEl>
                                          </p:spTgt>
                                        </p:tgtEl>
                                        <p:attrNameLst>
                                          <p:attrName>fill.type</p:attrName>
                                        </p:attrNameLst>
                                      </p:cBhvr>
                                      <p:to>
                                        <p:strVal val="solid"/>
                                      </p:to>
                                    </p:set>
                                    <p:set>
                                      <p:cBhvr>
                                        <p:cTn id="19" dur="500" fill="hold"/>
                                        <p:tgtEl>
                                          <p:spTgt spid="3">
                                            <p:txEl>
                                              <p:pRg st="1" end="1"/>
                                            </p:txEl>
                                          </p:spTgt>
                                        </p:tgtEl>
                                        <p:attrNameLst>
                                          <p:attrName>fill.on</p:attrName>
                                        </p:attrNameLst>
                                      </p:cBhvr>
                                      <p:to>
                                        <p:strVal val="true"/>
                                      </p:to>
                                    </p:set>
                                  </p:childTnLst>
                                </p:cTn>
                              </p:par>
                              <p:par>
                                <p:cTn id="20" presetID="19" presetClass="emph" presetSubtype="0" fill="hold" nodeType="withEffect">
                                  <p:stCondLst>
                                    <p:cond delay="0"/>
                                  </p:stCondLst>
                                  <p:childTnLst>
                                    <p:animClr clrSpc="rgb" dir="cw">
                                      <p:cBhvr override="childStyle">
                                        <p:cTn id="21" dur="500" fill="hold"/>
                                        <p:tgtEl>
                                          <p:spTgt spid="3">
                                            <p:txEl>
                                              <p:pRg st="2" end="2"/>
                                            </p:txEl>
                                          </p:spTgt>
                                        </p:tgtEl>
                                        <p:attrNameLst>
                                          <p:attrName>style.color</p:attrName>
                                        </p:attrNameLst>
                                      </p:cBhvr>
                                      <p:to>
                                        <a:schemeClr val="accent2"/>
                                      </p:to>
                                    </p:animClr>
                                    <p:animClr clrSpc="rgb" dir="cw">
                                      <p:cBhvr>
                                        <p:cTn id="22" dur="500" fill="hold"/>
                                        <p:tgtEl>
                                          <p:spTgt spid="3">
                                            <p:txEl>
                                              <p:pRg st="2" end="2"/>
                                            </p:txEl>
                                          </p:spTgt>
                                        </p:tgtEl>
                                        <p:attrNameLst>
                                          <p:attrName>fillcolor</p:attrName>
                                        </p:attrNameLst>
                                      </p:cBhvr>
                                      <p:to>
                                        <a:schemeClr val="accent2"/>
                                      </p:to>
                                    </p:animClr>
                                    <p:set>
                                      <p:cBhvr>
                                        <p:cTn id="23" dur="500" fill="hold"/>
                                        <p:tgtEl>
                                          <p:spTgt spid="3">
                                            <p:txEl>
                                              <p:pRg st="2" end="2"/>
                                            </p:txEl>
                                          </p:spTgt>
                                        </p:tgtEl>
                                        <p:attrNameLst>
                                          <p:attrName>fill.type</p:attrName>
                                        </p:attrNameLst>
                                      </p:cBhvr>
                                      <p:to>
                                        <p:strVal val="solid"/>
                                      </p:to>
                                    </p:set>
                                    <p:set>
                                      <p:cBhvr>
                                        <p:cTn id="24" dur="500" fill="hold"/>
                                        <p:tgtEl>
                                          <p:spTgt spid="3">
                                            <p:txEl>
                                              <p:pRg st="2" end="2"/>
                                            </p:txEl>
                                          </p:spTgt>
                                        </p:tgtEl>
                                        <p:attrNameLst>
                                          <p:attrName>fill.on</p:attrName>
                                        </p:attrNameLst>
                                      </p:cBhvr>
                                      <p:to>
                                        <p:strVal val="true"/>
                                      </p:to>
                                    </p:set>
                                  </p:childTnLst>
                                </p:cTn>
                              </p:par>
                              <p:par>
                                <p:cTn id="25" presetID="19" presetClass="emph" presetSubtype="0" fill="hold" nodeType="withEffect">
                                  <p:stCondLst>
                                    <p:cond delay="0"/>
                                  </p:stCondLst>
                                  <p:childTnLst>
                                    <p:animClr clrSpc="rgb" dir="cw">
                                      <p:cBhvr override="childStyle">
                                        <p:cTn id="26" dur="500" fill="hold"/>
                                        <p:tgtEl>
                                          <p:spTgt spid="3">
                                            <p:txEl>
                                              <p:pRg st="3" end="3"/>
                                            </p:txEl>
                                          </p:spTgt>
                                        </p:tgtEl>
                                        <p:attrNameLst>
                                          <p:attrName>style.color</p:attrName>
                                        </p:attrNameLst>
                                      </p:cBhvr>
                                      <p:to>
                                        <a:schemeClr val="accent2"/>
                                      </p:to>
                                    </p:animClr>
                                    <p:animClr clrSpc="rgb" dir="cw">
                                      <p:cBhvr>
                                        <p:cTn id="27" dur="500" fill="hold"/>
                                        <p:tgtEl>
                                          <p:spTgt spid="3">
                                            <p:txEl>
                                              <p:pRg st="3" end="3"/>
                                            </p:txEl>
                                          </p:spTgt>
                                        </p:tgtEl>
                                        <p:attrNameLst>
                                          <p:attrName>fillcolor</p:attrName>
                                        </p:attrNameLst>
                                      </p:cBhvr>
                                      <p:to>
                                        <a:schemeClr val="accent2"/>
                                      </p:to>
                                    </p:animClr>
                                    <p:set>
                                      <p:cBhvr>
                                        <p:cTn id="28" dur="500" fill="hold"/>
                                        <p:tgtEl>
                                          <p:spTgt spid="3">
                                            <p:txEl>
                                              <p:pRg st="3" end="3"/>
                                            </p:txEl>
                                          </p:spTgt>
                                        </p:tgtEl>
                                        <p:attrNameLst>
                                          <p:attrName>fill.type</p:attrName>
                                        </p:attrNameLst>
                                      </p:cBhvr>
                                      <p:to>
                                        <p:strVal val="solid"/>
                                      </p:to>
                                    </p:set>
                                    <p:set>
                                      <p:cBhvr>
                                        <p:cTn id="29" dur="500" fill="hold"/>
                                        <p:tgtEl>
                                          <p:spTgt spid="3">
                                            <p:txEl>
                                              <p:pRg st="3" end="3"/>
                                            </p:txEl>
                                          </p:spTgt>
                                        </p:tgtEl>
                                        <p:attrNameLst>
                                          <p:attrName>fill.on</p:attrName>
                                        </p:attrNameLst>
                                      </p:cBhvr>
                                      <p:to>
                                        <p:strVal val="true"/>
                                      </p:to>
                                    </p:set>
                                  </p:childTnLst>
                                </p:cTn>
                              </p:par>
                              <p:par>
                                <p:cTn id="30" presetID="19" presetClass="emph" presetSubtype="0" fill="hold" nodeType="withEffect">
                                  <p:stCondLst>
                                    <p:cond delay="0"/>
                                  </p:stCondLst>
                                  <p:childTnLst>
                                    <p:animClr clrSpc="rgb" dir="cw">
                                      <p:cBhvr override="childStyle">
                                        <p:cTn id="31" dur="500" fill="hold"/>
                                        <p:tgtEl>
                                          <p:spTgt spid="3">
                                            <p:txEl>
                                              <p:pRg st="4" end="4"/>
                                            </p:txEl>
                                          </p:spTgt>
                                        </p:tgtEl>
                                        <p:attrNameLst>
                                          <p:attrName>style.color</p:attrName>
                                        </p:attrNameLst>
                                      </p:cBhvr>
                                      <p:to>
                                        <a:schemeClr val="accent2"/>
                                      </p:to>
                                    </p:animClr>
                                    <p:animClr clrSpc="rgb" dir="cw">
                                      <p:cBhvr>
                                        <p:cTn id="32" dur="500" fill="hold"/>
                                        <p:tgtEl>
                                          <p:spTgt spid="3">
                                            <p:txEl>
                                              <p:pRg st="4" end="4"/>
                                            </p:txEl>
                                          </p:spTgt>
                                        </p:tgtEl>
                                        <p:attrNameLst>
                                          <p:attrName>fillcolor</p:attrName>
                                        </p:attrNameLst>
                                      </p:cBhvr>
                                      <p:to>
                                        <a:schemeClr val="accent2"/>
                                      </p:to>
                                    </p:animClr>
                                    <p:set>
                                      <p:cBhvr>
                                        <p:cTn id="33" dur="500" fill="hold"/>
                                        <p:tgtEl>
                                          <p:spTgt spid="3">
                                            <p:txEl>
                                              <p:pRg st="4" end="4"/>
                                            </p:txEl>
                                          </p:spTgt>
                                        </p:tgtEl>
                                        <p:attrNameLst>
                                          <p:attrName>fill.type</p:attrName>
                                        </p:attrNameLst>
                                      </p:cBhvr>
                                      <p:to>
                                        <p:strVal val="solid"/>
                                      </p:to>
                                    </p:set>
                                    <p:set>
                                      <p:cBhvr>
                                        <p:cTn id="34" dur="500" fill="hold"/>
                                        <p:tgtEl>
                                          <p:spTgt spid="3">
                                            <p:txEl>
                                              <p:pRg st="4" end="4"/>
                                            </p:txEl>
                                          </p:spTgt>
                                        </p:tgtEl>
                                        <p:attrNameLst>
                                          <p:attrName>fill.on</p:attrName>
                                        </p:attrNameLst>
                                      </p:cBhvr>
                                      <p:to>
                                        <p:strVal val="true"/>
                                      </p:to>
                                    </p:set>
                                  </p:childTnLst>
                                </p:cTn>
                              </p:par>
                              <p:par>
                                <p:cTn id="35" presetID="19" presetClass="emph" presetSubtype="0" fill="hold" nodeType="withEffect">
                                  <p:stCondLst>
                                    <p:cond delay="0"/>
                                  </p:stCondLst>
                                  <p:childTnLst>
                                    <p:animClr clrSpc="rgb" dir="cw">
                                      <p:cBhvr override="childStyle">
                                        <p:cTn id="36" dur="500" fill="hold"/>
                                        <p:tgtEl>
                                          <p:spTgt spid="3">
                                            <p:txEl>
                                              <p:pRg st="5" end="5"/>
                                            </p:txEl>
                                          </p:spTgt>
                                        </p:tgtEl>
                                        <p:attrNameLst>
                                          <p:attrName>style.color</p:attrName>
                                        </p:attrNameLst>
                                      </p:cBhvr>
                                      <p:to>
                                        <a:schemeClr val="accent2"/>
                                      </p:to>
                                    </p:animClr>
                                    <p:animClr clrSpc="rgb" dir="cw">
                                      <p:cBhvr>
                                        <p:cTn id="37" dur="500" fill="hold"/>
                                        <p:tgtEl>
                                          <p:spTgt spid="3">
                                            <p:txEl>
                                              <p:pRg st="5" end="5"/>
                                            </p:txEl>
                                          </p:spTgt>
                                        </p:tgtEl>
                                        <p:attrNameLst>
                                          <p:attrName>fillcolor</p:attrName>
                                        </p:attrNameLst>
                                      </p:cBhvr>
                                      <p:to>
                                        <a:schemeClr val="accent2"/>
                                      </p:to>
                                    </p:animClr>
                                    <p:set>
                                      <p:cBhvr>
                                        <p:cTn id="38" dur="500" fill="hold"/>
                                        <p:tgtEl>
                                          <p:spTgt spid="3">
                                            <p:txEl>
                                              <p:pRg st="5" end="5"/>
                                            </p:txEl>
                                          </p:spTgt>
                                        </p:tgtEl>
                                        <p:attrNameLst>
                                          <p:attrName>fill.type</p:attrName>
                                        </p:attrNameLst>
                                      </p:cBhvr>
                                      <p:to>
                                        <p:strVal val="solid"/>
                                      </p:to>
                                    </p:set>
                                    <p:set>
                                      <p:cBhvr>
                                        <p:cTn id="39" dur="500" fill="hold"/>
                                        <p:tgtEl>
                                          <p:spTgt spid="3">
                                            <p:txEl>
                                              <p:pRg st="5" end="5"/>
                                            </p:txEl>
                                          </p:spTgt>
                                        </p:tgtEl>
                                        <p:attrNameLst>
                                          <p:attrName>fill.on</p:attrName>
                                        </p:attrNameLst>
                                      </p:cBhvr>
                                      <p:to>
                                        <p:strVal val="tru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58060B-44F8-4774-8C9E-DB08ADE6229F}"/>
              </a:ext>
            </a:extLst>
          </p:cNvPr>
          <p:cNvSpPr>
            <a:spLocks noGrp="1"/>
          </p:cNvSpPr>
          <p:nvPr>
            <p:ph type="title"/>
          </p:nvPr>
        </p:nvSpPr>
        <p:spPr/>
        <p:txBody>
          <a:bodyPr>
            <a:normAutofit/>
          </a:bodyPr>
          <a:lstStyle/>
          <a:p>
            <a:r>
              <a:rPr lang="en-US" sz="4800" b="1" i="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DISADVANTAGES OF CRT</a:t>
            </a:r>
            <a:endParaRPr lang="en-IN" sz="4800" b="1" i="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89B4B9DA-A3A3-495F-9FA3-9AF0F60239DD}"/>
              </a:ext>
            </a:extLst>
          </p:cNvPr>
          <p:cNvSpPr>
            <a:spLocks noGrp="1"/>
          </p:cNvSpPr>
          <p:nvPr>
            <p:ph idx="1"/>
          </p:nvPr>
        </p:nvSpPr>
        <p:spPr/>
        <p:txBody>
          <a:bodyPr>
            <a:normAutofit/>
          </a:bodyPr>
          <a:lstStyle/>
          <a:p>
            <a:pPr fontAlgn="base">
              <a:lnSpc>
                <a:spcPct val="150000"/>
              </a:lnSpc>
              <a:spcAft>
                <a:spcPts val="600"/>
              </a:spcAft>
              <a:buSzPts val="1000"/>
              <a:buFont typeface="Wingdings" panose="05000000000000000000" pitchFamily="2" charset="2"/>
              <a:buChar char="v"/>
              <a:tabLst>
                <a:tab pos="457200" algn="l"/>
              </a:tabLst>
            </a:pPr>
            <a:r>
              <a:rPr lang="en-IN" sz="2000" dirty="0">
                <a:solidFill>
                  <a:schemeClr val="accent1">
                    <a:lumMod val="75000"/>
                  </a:schemeClr>
                </a:solidFill>
                <a:effectLst/>
                <a:latin typeface="Times New Roman" panose="02020603050405020304" pitchFamily="18" charset="0"/>
                <a:ea typeface="Times New Roman" panose="02020603050405020304" pitchFamily="18" charset="0"/>
                <a:cs typeface="Times New Roman" panose="02020603050405020304" pitchFamily="18" charset="0"/>
              </a:rPr>
              <a:t>CRT display technology is dependent on size.</a:t>
            </a:r>
          </a:p>
          <a:p>
            <a:pPr fontAlgn="base">
              <a:lnSpc>
                <a:spcPct val="150000"/>
              </a:lnSpc>
              <a:spcAft>
                <a:spcPts val="600"/>
              </a:spcAft>
              <a:buSzPts val="1000"/>
              <a:buFont typeface="Wingdings" panose="05000000000000000000" pitchFamily="2" charset="2"/>
              <a:buChar char="v"/>
              <a:tabLst>
                <a:tab pos="457200" algn="l"/>
              </a:tabLst>
            </a:pPr>
            <a:r>
              <a:rPr lang="en-IN" sz="2000" dirty="0">
                <a:solidFill>
                  <a:schemeClr val="accent1">
                    <a:lumMod val="75000"/>
                  </a:schemeClr>
                </a:solidFill>
                <a:effectLst/>
                <a:latin typeface="Times New Roman" panose="02020603050405020304" pitchFamily="18" charset="0"/>
                <a:ea typeface="Times New Roman" panose="02020603050405020304" pitchFamily="18" charset="0"/>
                <a:cs typeface="Times New Roman" panose="02020603050405020304" pitchFamily="18" charset="0"/>
              </a:rPr>
              <a:t>It displays images with fewer pixel densities.</a:t>
            </a:r>
          </a:p>
          <a:p>
            <a:pPr fontAlgn="base">
              <a:lnSpc>
                <a:spcPct val="150000"/>
              </a:lnSpc>
              <a:spcAft>
                <a:spcPts val="600"/>
              </a:spcAft>
              <a:buSzPts val="1000"/>
              <a:buFont typeface="Wingdings" panose="05000000000000000000" pitchFamily="2" charset="2"/>
              <a:buChar char="v"/>
              <a:tabLst>
                <a:tab pos="457200" algn="l"/>
              </a:tabLst>
            </a:pPr>
            <a:r>
              <a:rPr lang="en-IN" sz="2000" dirty="0">
                <a:solidFill>
                  <a:schemeClr val="accent1">
                    <a:lumMod val="75000"/>
                  </a:schemeClr>
                </a:solidFill>
                <a:effectLst/>
                <a:latin typeface="Times New Roman" panose="02020603050405020304" pitchFamily="18" charset="0"/>
                <a:ea typeface="Times New Roman" panose="02020603050405020304" pitchFamily="18" charset="0"/>
                <a:cs typeface="Times New Roman" panose="02020603050405020304" pitchFamily="18" charset="0"/>
              </a:rPr>
              <a:t>They consume a larger amount of power.</a:t>
            </a:r>
          </a:p>
          <a:p>
            <a:pPr fontAlgn="base">
              <a:lnSpc>
                <a:spcPct val="150000"/>
              </a:lnSpc>
              <a:spcAft>
                <a:spcPts val="600"/>
              </a:spcAft>
              <a:buSzPts val="1000"/>
              <a:buFont typeface="Wingdings" panose="05000000000000000000" pitchFamily="2" charset="2"/>
              <a:buChar char="v"/>
              <a:tabLst>
                <a:tab pos="457200" algn="l"/>
              </a:tabLst>
            </a:pPr>
            <a:r>
              <a:rPr lang="en-IN" sz="2000" dirty="0">
                <a:solidFill>
                  <a:schemeClr val="accent1">
                    <a:lumMod val="75000"/>
                  </a:schemeClr>
                </a:solidFill>
                <a:effectLst/>
                <a:latin typeface="Times New Roman" panose="02020603050405020304" pitchFamily="18" charset="0"/>
                <a:ea typeface="Times New Roman" panose="02020603050405020304" pitchFamily="18" charset="0"/>
                <a:cs typeface="Times New Roman" panose="02020603050405020304" pitchFamily="18" charset="0"/>
              </a:rPr>
              <a:t>They are large, heavy, and bulky.</a:t>
            </a:r>
          </a:p>
          <a:p>
            <a:pPr fontAlgn="base">
              <a:lnSpc>
                <a:spcPct val="150000"/>
              </a:lnSpc>
              <a:spcAft>
                <a:spcPts val="600"/>
              </a:spcAft>
              <a:buSzPts val="1000"/>
              <a:buFont typeface="Wingdings" panose="05000000000000000000" pitchFamily="2" charset="2"/>
              <a:buChar char="v"/>
              <a:tabLst>
                <a:tab pos="457200" algn="l"/>
              </a:tabLst>
            </a:pPr>
            <a:r>
              <a:rPr lang="en-IN" sz="2000" dirty="0">
                <a:solidFill>
                  <a:schemeClr val="accent1">
                    <a:lumMod val="75000"/>
                  </a:schemeClr>
                </a:solidFill>
                <a:effectLst/>
                <a:latin typeface="Times New Roman" panose="02020603050405020304" pitchFamily="18" charset="0"/>
                <a:ea typeface="Times New Roman" panose="02020603050405020304" pitchFamily="18" charset="0"/>
                <a:cs typeface="Times New Roman" panose="02020603050405020304" pitchFamily="18" charset="0"/>
              </a:rPr>
              <a:t>Relatively bright but not as bright as LCDs.</a:t>
            </a:r>
          </a:p>
        </p:txBody>
      </p:sp>
    </p:spTree>
    <p:extLst>
      <p:ext uri="{BB962C8B-B14F-4D97-AF65-F5344CB8AC3E}">
        <p14:creationId xmlns:p14="http://schemas.microsoft.com/office/powerpoint/2010/main" val="1995641209"/>
      </p:ext>
    </p:extLst>
  </p:cSld>
  <p:clrMapOvr>
    <a:masterClrMapping/>
  </p:clrMapOvr>
  <mc:AlternateContent xmlns:mc="http://schemas.openxmlformats.org/markup-compatibility/2006">
    <mc:Choice xmlns:p14="http://schemas.microsoft.com/office/powerpoint/2010/main" Requires="p14">
      <p:transition spd="slow" p14:dur="4400">
        <p14:honeycomb/>
        <p:sndAc>
          <p:stSnd>
            <p:snd r:embed="rId2" name="breeze.wav"/>
          </p:stSnd>
        </p:sndAc>
      </p:transition>
    </mc:Choice>
    <mc:Fallback>
      <p:transition spd="slow">
        <p:fade/>
        <p:sndAc>
          <p:stSnd>
            <p:snd r:embed="rId2" name="breeze.wav"/>
          </p:stSnd>
        </p:sndAc>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5"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2000"/>
                                        <p:tgtEl>
                                          <p:spTgt spid="2"/>
                                        </p:tgtEl>
                                      </p:cBhvr>
                                    </p:animEffect>
                                    <p:anim calcmode="lin" valueType="num">
                                      <p:cBhvr>
                                        <p:cTn id="8" dur="2000" fill="hold"/>
                                        <p:tgtEl>
                                          <p:spTgt spid="2"/>
                                        </p:tgtEl>
                                        <p:attrNameLst>
                                          <p:attrName>ppt_w</p:attrName>
                                        </p:attrNameLst>
                                      </p:cBhvr>
                                      <p:tavLst>
                                        <p:tav tm="0" fmla="#ppt_w*sin(2.5*pi*$)">
                                          <p:val>
                                            <p:fltVal val="0"/>
                                          </p:val>
                                        </p:tav>
                                        <p:tav tm="100000">
                                          <p:val>
                                            <p:fltVal val="1"/>
                                          </p:val>
                                        </p:tav>
                                      </p:tavLst>
                                    </p:anim>
                                    <p:anim calcmode="lin" valueType="num">
                                      <p:cBhvr>
                                        <p:cTn id="9" dur="2000" fill="hold"/>
                                        <p:tgtEl>
                                          <p:spTgt spid="2"/>
                                        </p:tgtEl>
                                        <p:attrNameLst>
                                          <p:attrName>ppt_h</p:attrName>
                                        </p:attrNameLst>
                                      </p:cBhvr>
                                      <p:tavLst>
                                        <p:tav tm="0">
                                          <p:val>
                                            <p:strVal val="#ppt_h"/>
                                          </p:val>
                                        </p:tav>
                                        <p:tav tm="100000">
                                          <p:val>
                                            <p:strVal val="#ppt_h"/>
                                          </p:val>
                                        </p:tav>
                                      </p:tavLst>
                                    </p:anim>
                                  </p:childTnLst>
                                </p:cTn>
                              </p:par>
                            </p:childTnLst>
                          </p:cTn>
                        </p:par>
                      </p:childTnLst>
                    </p:cTn>
                  </p:par>
                  <p:par>
                    <p:cTn id="10" fill="hold">
                      <p:stCondLst>
                        <p:cond delay="indefinite"/>
                      </p:stCondLst>
                      <p:childTnLst>
                        <p:par>
                          <p:cTn id="11" fill="hold">
                            <p:stCondLst>
                              <p:cond delay="0"/>
                            </p:stCondLst>
                            <p:childTnLst>
                              <p:par>
                                <p:cTn id="12" presetID="27" presetClass="emph" presetSubtype="0" fill="remove" nodeType="clickEffect">
                                  <p:stCondLst>
                                    <p:cond delay="0"/>
                                  </p:stCondLst>
                                  <p:childTnLst>
                                    <p:animClr clrSpc="rgb" dir="cw">
                                      <p:cBhvr override="childStyle">
                                        <p:cTn id="13" dur="250" autoRev="1" fill="remove"/>
                                        <p:tgtEl>
                                          <p:spTgt spid="3">
                                            <p:txEl>
                                              <p:pRg st="0" end="0"/>
                                            </p:txEl>
                                          </p:spTgt>
                                        </p:tgtEl>
                                        <p:attrNameLst>
                                          <p:attrName>style.color</p:attrName>
                                        </p:attrNameLst>
                                      </p:cBhvr>
                                      <p:to>
                                        <a:schemeClr val="bg1"/>
                                      </p:to>
                                    </p:animClr>
                                    <p:animClr clrSpc="rgb" dir="cw">
                                      <p:cBhvr>
                                        <p:cTn id="14" dur="250" autoRev="1" fill="remove"/>
                                        <p:tgtEl>
                                          <p:spTgt spid="3">
                                            <p:txEl>
                                              <p:pRg st="0" end="0"/>
                                            </p:txEl>
                                          </p:spTgt>
                                        </p:tgtEl>
                                        <p:attrNameLst>
                                          <p:attrName>fillcolor</p:attrName>
                                        </p:attrNameLst>
                                      </p:cBhvr>
                                      <p:to>
                                        <a:schemeClr val="bg1"/>
                                      </p:to>
                                    </p:animClr>
                                    <p:set>
                                      <p:cBhvr>
                                        <p:cTn id="15" dur="250" autoRev="1" fill="remove"/>
                                        <p:tgtEl>
                                          <p:spTgt spid="3">
                                            <p:txEl>
                                              <p:pRg st="0" end="0"/>
                                            </p:txEl>
                                          </p:spTgt>
                                        </p:tgtEl>
                                        <p:attrNameLst>
                                          <p:attrName>fill.type</p:attrName>
                                        </p:attrNameLst>
                                      </p:cBhvr>
                                      <p:to>
                                        <p:strVal val="solid"/>
                                      </p:to>
                                    </p:set>
                                    <p:set>
                                      <p:cBhvr>
                                        <p:cTn id="16" dur="250" autoRev="1" fill="remove"/>
                                        <p:tgtEl>
                                          <p:spTgt spid="3">
                                            <p:txEl>
                                              <p:pRg st="0" end="0"/>
                                            </p:txEl>
                                          </p:spTgt>
                                        </p:tgtEl>
                                        <p:attrNameLst>
                                          <p:attrName>fill.on</p:attrName>
                                        </p:attrNameLst>
                                      </p:cBhvr>
                                      <p:to>
                                        <p:strVal val="true"/>
                                      </p:to>
                                    </p:set>
                                  </p:childTnLst>
                                </p:cTn>
                              </p:par>
                              <p:par>
                                <p:cTn id="17" presetID="27" presetClass="emph" presetSubtype="0" fill="remove" nodeType="withEffect">
                                  <p:stCondLst>
                                    <p:cond delay="0"/>
                                  </p:stCondLst>
                                  <p:childTnLst>
                                    <p:animClr clrSpc="rgb" dir="cw">
                                      <p:cBhvr override="childStyle">
                                        <p:cTn id="18" dur="250" autoRev="1" fill="remove"/>
                                        <p:tgtEl>
                                          <p:spTgt spid="3">
                                            <p:txEl>
                                              <p:pRg st="1" end="1"/>
                                            </p:txEl>
                                          </p:spTgt>
                                        </p:tgtEl>
                                        <p:attrNameLst>
                                          <p:attrName>style.color</p:attrName>
                                        </p:attrNameLst>
                                      </p:cBhvr>
                                      <p:to>
                                        <a:schemeClr val="bg1"/>
                                      </p:to>
                                    </p:animClr>
                                    <p:animClr clrSpc="rgb" dir="cw">
                                      <p:cBhvr>
                                        <p:cTn id="19" dur="250" autoRev="1" fill="remove"/>
                                        <p:tgtEl>
                                          <p:spTgt spid="3">
                                            <p:txEl>
                                              <p:pRg st="1" end="1"/>
                                            </p:txEl>
                                          </p:spTgt>
                                        </p:tgtEl>
                                        <p:attrNameLst>
                                          <p:attrName>fillcolor</p:attrName>
                                        </p:attrNameLst>
                                      </p:cBhvr>
                                      <p:to>
                                        <a:schemeClr val="bg1"/>
                                      </p:to>
                                    </p:animClr>
                                    <p:set>
                                      <p:cBhvr>
                                        <p:cTn id="20" dur="250" autoRev="1" fill="remove"/>
                                        <p:tgtEl>
                                          <p:spTgt spid="3">
                                            <p:txEl>
                                              <p:pRg st="1" end="1"/>
                                            </p:txEl>
                                          </p:spTgt>
                                        </p:tgtEl>
                                        <p:attrNameLst>
                                          <p:attrName>fill.type</p:attrName>
                                        </p:attrNameLst>
                                      </p:cBhvr>
                                      <p:to>
                                        <p:strVal val="solid"/>
                                      </p:to>
                                    </p:set>
                                    <p:set>
                                      <p:cBhvr>
                                        <p:cTn id="21" dur="250" autoRev="1" fill="remove"/>
                                        <p:tgtEl>
                                          <p:spTgt spid="3">
                                            <p:txEl>
                                              <p:pRg st="1" end="1"/>
                                            </p:txEl>
                                          </p:spTgt>
                                        </p:tgtEl>
                                        <p:attrNameLst>
                                          <p:attrName>fill.on</p:attrName>
                                        </p:attrNameLst>
                                      </p:cBhvr>
                                      <p:to>
                                        <p:strVal val="true"/>
                                      </p:to>
                                    </p:set>
                                  </p:childTnLst>
                                </p:cTn>
                              </p:par>
                              <p:par>
                                <p:cTn id="22" presetID="27" presetClass="emph" presetSubtype="0" fill="remove" nodeType="withEffect">
                                  <p:stCondLst>
                                    <p:cond delay="0"/>
                                  </p:stCondLst>
                                  <p:childTnLst>
                                    <p:animClr clrSpc="rgb" dir="cw">
                                      <p:cBhvr override="childStyle">
                                        <p:cTn id="23" dur="250" autoRev="1" fill="remove"/>
                                        <p:tgtEl>
                                          <p:spTgt spid="3">
                                            <p:txEl>
                                              <p:pRg st="2" end="2"/>
                                            </p:txEl>
                                          </p:spTgt>
                                        </p:tgtEl>
                                        <p:attrNameLst>
                                          <p:attrName>style.color</p:attrName>
                                        </p:attrNameLst>
                                      </p:cBhvr>
                                      <p:to>
                                        <a:schemeClr val="bg1"/>
                                      </p:to>
                                    </p:animClr>
                                    <p:animClr clrSpc="rgb" dir="cw">
                                      <p:cBhvr>
                                        <p:cTn id="24" dur="250" autoRev="1" fill="remove"/>
                                        <p:tgtEl>
                                          <p:spTgt spid="3">
                                            <p:txEl>
                                              <p:pRg st="2" end="2"/>
                                            </p:txEl>
                                          </p:spTgt>
                                        </p:tgtEl>
                                        <p:attrNameLst>
                                          <p:attrName>fillcolor</p:attrName>
                                        </p:attrNameLst>
                                      </p:cBhvr>
                                      <p:to>
                                        <a:schemeClr val="bg1"/>
                                      </p:to>
                                    </p:animClr>
                                    <p:set>
                                      <p:cBhvr>
                                        <p:cTn id="25" dur="250" autoRev="1" fill="remove"/>
                                        <p:tgtEl>
                                          <p:spTgt spid="3">
                                            <p:txEl>
                                              <p:pRg st="2" end="2"/>
                                            </p:txEl>
                                          </p:spTgt>
                                        </p:tgtEl>
                                        <p:attrNameLst>
                                          <p:attrName>fill.type</p:attrName>
                                        </p:attrNameLst>
                                      </p:cBhvr>
                                      <p:to>
                                        <p:strVal val="solid"/>
                                      </p:to>
                                    </p:set>
                                    <p:set>
                                      <p:cBhvr>
                                        <p:cTn id="26" dur="250" autoRev="1" fill="remove"/>
                                        <p:tgtEl>
                                          <p:spTgt spid="3">
                                            <p:txEl>
                                              <p:pRg st="2" end="2"/>
                                            </p:txEl>
                                          </p:spTgt>
                                        </p:tgtEl>
                                        <p:attrNameLst>
                                          <p:attrName>fill.on</p:attrName>
                                        </p:attrNameLst>
                                      </p:cBhvr>
                                      <p:to>
                                        <p:strVal val="true"/>
                                      </p:to>
                                    </p:set>
                                  </p:childTnLst>
                                </p:cTn>
                              </p:par>
                              <p:par>
                                <p:cTn id="27" presetID="27" presetClass="emph" presetSubtype="0" fill="remove" nodeType="withEffect">
                                  <p:stCondLst>
                                    <p:cond delay="0"/>
                                  </p:stCondLst>
                                  <p:childTnLst>
                                    <p:animClr clrSpc="rgb" dir="cw">
                                      <p:cBhvr override="childStyle">
                                        <p:cTn id="28" dur="250" autoRev="1" fill="remove"/>
                                        <p:tgtEl>
                                          <p:spTgt spid="3">
                                            <p:txEl>
                                              <p:pRg st="3" end="3"/>
                                            </p:txEl>
                                          </p:spTgt>
                                        </p:tgtEl>
                                        <p:attrNameLst>
                                          <p:attrName>style.color</p:attrName>
                                        </p:attrNameLst>
                                      </p:cBhvr>
                                      <p:to>
                                        <a:schemeClr val="bg1"/>
                                      </p:to>
                                    </p:animClr>
                                    <p:animClr clrSpc="rgb" dir="cw">
                                      <p:cBhvr>
                                        <p:cTn id="29" dur="250" autoRev="1" fill="remove"/>
                                        <p:tgtEl>
                                          <p:spTgt spid="3">
                                            <p:txEl>
                                              <p:pRg st="3" end="3"/>
                                            </p:txEl>
                                          </p:spTgt>
                                        </p:tgtEl>
                                        <p:attrNameLst>
                                          <p:attrName>fillcolor</p:attrName>
                                        </p:attrNameLst>
                                      </p:cBhvr>
                                      <p:to>
                                        <a:schemeClr val="bg1"/>
                                      </p:to>
                                    </p:animClr>
                                    <p:set>
                                      <p:cBhvr>
                                        <p:cTn id="30" dur="250" autoRev="1" fill="remove"/>
                                        <p:tgtEl>
                                          <p:spTgt spid="3">
                                            <p:txEl>
                                              <p:pRg st="3" end="3"/>
                                            </p:txEl>
                                          </p:spTgt>
                                        </p:tgtEl>
                                        <p:attrNameLst>
                                          <p:attrName>fill.type</p:attrName>
                                        </p:attrNameLst>
                                      </p:cBhvr>
                                      <p:to>
                                        <p:strVal val="solid"/>
                                      </p:to>
                                    </p:set>
                                    <p:set>
                                      <p:cBhvr>
                                        <p:cTn id="31" dur="250" autoRev="1" fill="remove"/>
                                        <p:tgtEl>
                                          <p:spTgt spid="3">
                                            <p:txEl>
                                              <p:pRg st="3" end="3"/>
                                            </p:txEl>
                                          </p:spTgt>
                                        </p:tgtEl>
                                        <p:attrNameLst>
                                          <p:attrName>fill.on</p:attrName>
                                        </p:attrNameLst>
                                      </p:cBhvr>
                                      <p:to>
                                        <p:strVal val="true"/>
                                      </p:to>
                                    </p:set>
                                  </p:childTnLst>
                                </p:cTn>
                              </p:par>
                              <p:par>
                                <p:cTn id="32" presetID="27" presetClass="emph" presetSubtype="0" fill="remove" nodeType="withEffect">
                                  <p:stCondLst>
                                    <p:cond delay="0"/>
                                  </p:stCondLst>
                                  <p:childTnLst>
                                    <p:animClr clrSpc="rgb" dir="cw">
                                      <p:cBhvr override="childStyle">
                                        <p:cTn id="33" dur="250" autoRev="1" fill="remove"/>
                                        <p:tgtEl>
                                          <p:spTgt spid="3">
                                            <p:txEl>
                                              <p:pRg st="4" end="4"/>
                                            </p:txEl>
                                          </p:spTgt>
                                        </p:tgtEl>
                                        <p:attrNameLst>
                                          <p:attrName>style.color</p:attrName>
                                        </p:attrNameLst>
                                      </p:cBhvr>
                                      <p:to>
                                        <a:schemeClr val="bg1"/>
                                      </p:to>
                                    </p:animClr>
                                    <p:animClr clrSpc="rgb" dir="cw">
                                      <p:cBhvr>
                                        <p:cTn id="34" dur="250" autoRev="1" fill="remove"/>
                                        <p:tgtEl>
                                          <p:spTgt spid="3">
                                            <p:txEl>
                                              <p:pRg st="4" end="4"/>
                                            </p:txEl>
                                          </p:spTgt>
                                        </p:tgtEl>
                                        <p:attrNameLst>
                                          <p:attrName>fillcolor</p:attrName>
                                        </p:attrNameLst>
                                      </p:cBhvr>
                                      <p:to>
                                        <a:schemeClr val="bg1"/>
                                      </p:to>
                                    </p:animClr>
                                    <p:set>
                                      <p:cBhvr>
                                        <p:cTn id="35" dur="250" autoRev="1" fill="remove"/>
                                        <p:tgtEl>
                                          <p:spTgt spid="3">
                                            <p:txEl>
                                              <p:pRg st="4" end="4"/>
                                            </p:txEl>
                                          </p:spTgt>
                                        </p:tgtEl>
                                        <p:attrNameLst>
                                          <p:attrName>fill.type</p:attrName>
                                        </p:attrNameLst>
                                      </p:cBhvr>
                                      <p:to>
                                        <p:strVal val="solid"/>
                                      </p:to>
                                    </p:set>
                                    <p:set>
                                      <p:cBhvr>
                                        <p:cTn id="36" dur="250" autoRev="1" fill="remove"/>
                                        <p:tgtEl>
                                          <p:spTgt spid="3">
                                            <p:txEl>
                                              <p:pRg st="4" end="4"/>
                                            </p:txEl>
                                          </p:spTgt>
                                        </p:tgtEl>
                                        <p:attrNameLst>
                                          <p:attrName>fill.on</p:attrName>
                                        </p:attrNameLst>
                                      </p:cBhvr>
                                      <p:to>
                                        <p:strVal val="tru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theme/theme1.xml><?xml version="1.0" encoding="utf-8"?>
<a:theme xmlns:a="http://schemas.openxmlformats.org/drawingml/2006/main" name="Gallery">
  <a:themeElements>
    <a:clrScheme name="Gallery">
      <a:dk1>
        <a:sysClr val="windowText" lastClr="000000"/>
      </a:dk1>
      <a:lt1>
        <a:sysClr val="window" lastClr="FFFFFF"/>
      </a:lt1>
      <a:dk2>
        <a:srgbClr val="454545"/>
      </a:dk2>
      <a:lt2>
        <a:srgbClr val="DFDBD5"/>
      </a:lt2>
      <a:accent1>
        <a:srgbClr val="B71E42"/>
      </a:accent1>
      <a:accent2>
        <a:srgbClr val="DE478E"/>
      </a:accent2>
      <a:accent3>
        <a:srgbClr val="BC72F0"/>
      </a:accent3>
      <a:accent4>
        <a:srgbClr val="795FAF"/>
      </a:accent4>
      <a:accent5>
        <a:srgbClr val="586EA6"/>
      </a:accent5>
      <a:accent6>
        <a:srgbClr val="6892A0"/>
      </a:accent6>
      <a:hlink>
        <a:srgbClr val="FA2B5C"/>
      </a:hlink>
      <a:folHlink>
        <a:srgbClr val="BC658E"/>
      </a:folHlink>
    </a:clrScheme>
    <a:fontScheme name="Gallery">
      <a:majorFont>
        <a:latin typeface="Gill Sans MT" panose="020B0502020104020203"/>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Gill Sans MT" panose="020B0502020104020203"/>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Gallery">
      <a:fillStyleLst>
        <a:solidFill>
          <a:schemeClr val="phClr"/>
        </a:solidFill>
        <a:gradFill rotWithShape="1">
          <a:gsLst>
            <a:gs pos="0">
              <a:schemeClr val="phClr">
                <a:tint val="54000"/>
                <a:alpha val="100000"/>
                <a:satMod val="105000"/>
                <a:lumMod val="110000"/>
              </a:schemeClr>
            </a:gs>
            <a:gs pos="100000">
              <a:schemeClr val="phClr">
                <a:tint val="78000"/>
                <a:alpha val="92000"/>
                <a:satMod val="109000"/>
                <a:lumMod val="100000"/>
              </a:schemeClr>
            </a:gs>
          </a:gsLst>
          <a:lin ang="5400000" scaled="0"/>
        </a:gradFill>
        <a:gradFill rotWithShape="1">
          <a:gsLst>
            <a:gs pos="0">
              <a:schemeClr val="phClr">
                <a:tint val="98000"/>
                <a:satMod val="110000"/>
                <a:lumMod val="104000"/>
              </a:schemeClr>
            </a:gs>
            <a:gs pos="69000">
              <a:schemeClr val="phClr">
                <a:shade val="88000"/>
                <a:satMod val="130000"/>
                <a:lumMod val="92000"/>
              </a:schemeClr>
            </a:gs>
            <a:gs pos="100000">
              <a:schemeClr val="phClr">
                <a:shade val="78000"/>
                <a:satMod val="130000"/>
                <a:lumMod val="92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0800" dist="50800" dir="5400000" sx="96000" sy="96000" rotWithShape="0">
              <a:srgbClr val="000000">
                <a:alpha val="48000"/>
              </a:srgbClr>
            </a:outerShdw>
          </a:effectLst>
          <a:scene3d>
            <a:camera prst="orthographicFront">
              <a:rot lat="0" lon="0" rev="0"/>
            </a:camera>
            <a:lightRig rig="balanced" dir="t">
              <a:rot lat="0" lon="0" rev="1080000"/>
            </a:lightRig>
          </a:scene3d>
          <a:sp3d>
            <a:bevelT w="38100" h="12700" prst="softRound"/>
          </a:sp3d>
        </a:effectStyle>
      </a:effectStyleLst>
      <a:bgFillStyleLst>
        <a:solidFill>
          <a:schemeClr val="phClr"/>
        </a:solidFill>
        <a:solidFill>
          <a:schemeClr val="phClr"/>
        </a:solidFill>
        <a:gradFill rotWithShape="1">
          <a:gsLst>
            <a:gs pos="0">
              <a:schemeClr val="phClr">
                <a:tint val="94000"/>
                <a:satMod val="80000"/>
                <a:lumMod val="106000"/>
              </a:schemeClr>
            </a:gs>
            <a:gs pos="100000">
              <a:schemeClr val="phClr">
                <a:shade val="80000"/>
              </a:schemeClr>
            </a:gs>
          </a:gsLst>
          <a:path path="circle">
            <a:fillToRect l="43000" r="43000" b="100000"/>
          </a:path>
        </a:gradFill>
      </a:bgFillStyleLst>
    </a:fmtScheme>
  </a:themeElements>
  <a:objectDefaults/>
  <a:extraClrSchemeLst/>
  <a:extLst>
    <a:ext uri="{05A4C25C-085E-4340-85A3-A5531E510DB2}">
      <thm15:themeFamily xmlns:thm15="http://schemas.microsoft.com/office/thememl/2012/main" name="Gallery" id="{BBFCD31E-59A1-489D-B089-A3EAD7CAE12E}" vid="{F5E91637-A7B6-4E27-B710-77DA7014EE1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Gallery</Template>
  <TotalTime>25</TotalTime>
  <Words>238</Words>
  <Application>Microsoft Office PowerPoint</Application>
  <PresentationFormat>Widescreen</PresentationFormat>
  <Paragraphs>25</Paragraphs>
  <Slides>5</Slides>
  <Notes>4</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5</vt:i4>
      </vt:variant>
    </vt:vector>
  </HeadingPairs>
  <TitlesOfParts>
    <vt:vector size="11" baseType="lpstr">
      <vt:lpstr>Arial</vt:lpstr>
      <vt:lpstr>Calibri</vt:lpstr>
      <vt:lpstr>Gill Sans MT</vt:lpstr>
      <vt:lpstr>Times New Roman</vt:lpstr>
      <vt:lpstr>Wingdings</vt:lpstr>
      <vt:lpstr>Gallery</vt:lpstr>
      <vt:lpstr>CATHODE RAY TUBE</vt:lpstr>
      <vt:lpstr>WHAT IS CRT?</vt:lpstr>
      <vt:lpstr>OVERALL WORKING OF CRT</vt:lpstr>
      <vt:lpstr>ADVANTAGES OF CRT</vt:lpstr>
      <vt:lpstr>DISADVANTAGES OF CRT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CATHODE RAY TUBE</dc:title>
  <dc:creator>bhavya bajaj</dc:creator>
  <cp:lastModifiedBy>bhavya bajaj</cp:lastModifiedBy>
  <cp:revision>3</cp:revision>
  <dcterms:created xsi:type="dcterms:W3CDTF">2022-05-10T07:21:02Z</dcterms:created>
  <dcterms:modified xsi:type="dcterms:W3CDTF">2022-05-10T07:46:28Z</dcterms:modified>
</cp:coreProperties>
</file>